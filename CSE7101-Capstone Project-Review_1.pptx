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E-45/PSCS-481-Online-Chatbot-Based-Ticketing-System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mbria"/>
                <a:cs typeface="Cambria"/>
              </a:rPr>
              <a:t>PSCS-</a:t>
            </a:r>
            <a:r>
              <a:rPr sz="2400" b="1" dirty="0">
                <a:latin typeface="Cambria"/>
                <a:cs typeface="Cambria"/>
              </a:rPr>
              <a:t>481</a:t>
            </a:r>
            <a:r>
              <a:rPr sz="2400" b="1" spc="-5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Online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Chatbot</a:t>
            </a:r>
            <a:r>
              <a:rPr sz="2400" b="1" spc="-6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Based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Ticketing</a:t>
            </a:r>
            <a:r>
              <a:rPr sz="2400" b="1" spc="-5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ambria"/>
                <a:cs typeface="Cambria"/>
              </a:rPr>
              <a:t>System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sz="1800" b="1" spc="-4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sz="1800" b="1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45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r>
              <a:rPr sz="1800" b="1" dirty="0">
                <a:latin typeface="Cambria"/>
                <a:cs typeface="Cambria"/>
              </a:rPr>
              <a:t>Ms.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Smitha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P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256" y="2655798"/>
            <a:ext cx="15728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>
                <a:latin typeface="Cambria"/>
                <a:cs typeface="Cambria"/>
              </a:rPr>
              <a:t>20221ISE0053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20221ISE0083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16365D"/>
                </a:solidFill>
                <a:latin typeface="Cambria"/>
                <a:cs typeface="Cambria"/>
              </a:rPr>
              <a:t>Name </a:t>
            </a:r>
            <a:r>
              <a:rPr sz="1800" b="1" dirty="0">
                <a:latin typeface="Cambria"/>
                <a:cs typeface="Cambria"/>
              </a:rPr>
              <a:t>Mohamed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Aslam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Pasha </a:t>
            </a:r>
            <a:r>
              <a:rPr sz="1800" b="1" dirty="0">
                <a:latin typeface="Cambria"/>
                <a:cs typeface="Cambria"/>
              </a:rPr>
              <a:t>Kovuri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Nizamuddin </a:t>
            </a:r>
            <a:r>
              <a:rPr sz="1800" b="1" dirty="0">
                <a:latin typeface="Cambria"/>
                <a:cs typeface="Cambria"/>
              </a:rPr>
              <a:t>Vaseem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1" y="121830"/>
            <a:ext cx="2848610" cy="652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CSE7101-</a:t>
            </a:r>
            <a:r>
              <a:rPr sz="1800" spc="-65" dirty="0"/>
              <a:t> </a:t>
            </a:r>
            <a:r>
              <a:rPr sz="1800" dirty="0"/>
              <a:t>Capstone</a:t>
            </a:r>
            <a:r>
              <a:rPr sz="1800" spc="-65" dirty="0"/>
              <a:t> </a:t>
            </a:r>
            <a:r>
              <a:rPr sz="1800" spc="-10" dirty="0"/>
              <a:t>Project Review-</a:t>
            </a:r>
            <a:r>
              <a:rPr sz="1800" spc="-50" dirty="0"/>
              <a:t>1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</a:t>
            </a:r>
            <a:r>
              <a:rPr lang="en-US" sz="1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.Zafar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Ali Khan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Coordinator: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Suma N G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4519930" cy="37973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mbria"/>
                <a:cs typeface="Cambria"/>
              </a:rPr>
              <a:t>Problem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Statement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1600" spc="-10" dirty="0">
                <a:latin typeface="Cambria"/>
                <a:cs typeface="Cambria"/>
              </a:rPr>
              <a:t>Objectives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mbria"/>
                <a:cs typeface="Cambria"/>
              </a:rPr>
              <a:t>Background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Related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work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title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Selection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mbria"/>
                <a:cs typeface="Cambria"/>
              </a:rPr>
              <a:t>Analysis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Problem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Statement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mbria"/>
                <a:cs typeface="Cambria"/>
              </a:rPr>
              <a:t>Innovation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Novel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Contributions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1600" spc="-10" dirty="0">
                <a:latin typeface="Cambria"/>
                <a:cs typeface="Cambria"/>
              </a:rPr>
              <a:t>Git-</a:t>
            </a:r>
            <a:r>
              <a:rPr sz="1600" dirty="0">
                <a:latin typeface="Cambria"/>
                <a:cs typeface="Cambria"/>
              </a:rPr>
              <a:t>hub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Link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mbria"/>
                <a:cs typeface="Cambria"/>
              </a:rPr>
              <a:t>Timeline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Project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1600" spc="-10" dirty="0">
                <a:latin typeface="Cambria"/>
                <a:cs typeface="Cambria"/>
              </a:rPr>
              <a:t>References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mbria"/>
                <a:cs typeface="Cambria"/>
              </a:rPr>
              <a:t>Organization:</a:t>
            </a:r>
            <a:r>
              <a:rPr b="1" spc="-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Travel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Tourism</a:t>
            </a: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b="1" dirty="0">
                <a:latin typeface="Cambria"/>
                <a:cs typeface="Cambria"/>
              </a:rPr>
              <a:t>Category</a:t>
            </a:r>
            <a:r>
              <a:rPr b="1" spc="-3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:</a:t>
            </a:r>
            <a:r>
              <a:rPr b="1" spc="-3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Software</a:t>
            </a:r>
          </a:p>
          <a:p>
            <a:pPr marL="203200" marR="5080" indent="-190500" algn="just">
              <a:lnSpc>
                <a:spcPct val="200000"/>
              </a:lnSpc>
            </a:pPr>
            <a:r>
              <a:rPr b="1" dirty="0">
                <a:latin typeface="Cambria"/>
                <a:cs typeface="Cambria"/>
              </a:rPr>
              <a:t>Problem</a:t>
            </a:r>
            <a:r>
              <a:rPr b="1" spc="25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Description:</a:t>
            </a:r>
            <a:r>
              <a:rPr b="1" spc="254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Visitors</a:t>
            </a:r>
            <a:r>
              <a:rPr spc="2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254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museums</a:t>
            </a:r>
            <a:r>
              <a:rPr spc="26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often</a:t>
            </a:r>
            <a:r>
              <a:rPr spc="2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face</a:t>
            </a:r>
            <a:r>
              <a:rPr spc="26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several</a:t>
            </a:r>
            <a:r>
              <a:rPr spc="26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significant</a:t>
            </a:r>
            <a:r>
              <a:rPr spc="26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challenges</a:t>
            </a:r>
            <a:r>
              <a:rPr spc="26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due</a:t>
            </a:r>
            <a:r>
              <a:rPr spc="26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tomanual</a:t>
            </a:r>
            <a:r>
              <a:rPr spc="26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ticket</a:t>
            </a:r>
            <a:r>
              <a:rPr spc="26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booking </a:t>
            </a:r>
            <a:r>
              <a:rPr dirty="0">
                <a:latin typeface="Cambria"/>
                <a:cs typeface="Cambria"/>
              </a:rPr>
              <a:t>systems.</a:t>
            </a:r>
            <a:r>
              <a:rPr spc="-1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One</a:t>
            </a:r>
            <a:r>
              <a:rPr spc="-1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prominent</a:t>
            </a:r>
            <a:r>
              <a:rPr spc="-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issue</a:t>
            </a:r>
            <a:r>
              <a:rPr spc="-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is the</a:t>
            </a:r>
            <a:r>
              <a:rPr spc="-1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inefficiency</a:t>
            </a:r>
            <a:r>
              <a:rPr spc="-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 time</a:t>
            </a:r>
            <a:r>
              <a:rPr spc="-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consumption associated</a:t>
            </a:r>
            <a:r>
              <a:rPr spc="-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with the</a:t>
            </a:r>
            <a:r>
              <a:rPr spc="-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process. Long</a:t>
            </a:r>
            <a:r>
              <a:rPr spc="-1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queues </a:t>
            </a:r>
            <a:r>
              <a:rPr spc="-25" dirty="0">
                <a:latin typeface="Cambria"/>
                <a:cs typeface="Cambria"/>
              </a:rPr>
              <a:t>are </a:t>
            </a:r>
            <a:r>
              <a:rPr dirty="0">
                <a:latin typeface="Cambria"/>
                <a:cs typeface="Cambria"/>
              </a:rPr>
              <a:t>common,</a:t>
            </a:r>
            <a:r>
              <a:rPr spc="2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especially</a:t>
            </a:r>
            <a:r>
              <a:rPr spc="2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during</a:t>
            </a:r>
            <a:r>
              <a:rPr spc="2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peak</a:t>
            </a:r>
            <a:r>
              <a:rPr spc="2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hours,</a:t>
            </a:r>
            <a:r>
              <a:rPr spc="2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weekends,</a:t>
            </a:r>
            <a:r>
              <a:rPr spc="3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or</a:t>
            </a:r>
            <a:r>
              <a:rPr spc="28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special</a:t>
            </a:r>
            <a:r>
              <a:rPr spc="2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exhibitions,</a:t>
            </a:r>
            <a:r>
              <a:rPr spc="3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leading</a:t>
            </a:r>
            <a:r>
              <a:rPr spc="28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3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frustration</a:t>
            </a:r>
            <a:r>
              <a:rPr spc="2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29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impatience </a:t>
            </a:r>
            <a:r>
              <a:rPr dirty="0">
                <a:latin typeface="Cambria"/>
                <a:cs typeface="Cambria"/>
              </a:rPr>
              <a:t>among</a:t>
            </a:r>
            <a:r>
              <a:rPr spc="2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visitors.</a:t>
            </a:r>
            <a:r>
              <a:rPr spc="2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Besides</a:t>
            </a:r>
            <a:r>
              <a:rPr spc="2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wait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times,</a:t>
            </a:r>
            <a:r>
              <a:rPr spc="2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manual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system</a:t>
            </a:r>
            <a:r>
              <a:rPr spc="2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is</a:t>
            </a:r>
            <a:r>
              <a:rPr spc="2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prone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2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errors,</a:t>
            </a:r>
            <a:r>
              <a:rPr spc="2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such</a:t>
            </a:r>
            <a:r>
              <a:rPr spc="2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as</a:t>
            </a:r>
            <a:r>
              <a:rPr spc="2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incorrect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ticket</a:t>
            </a:r>
            <a:r>
              <a:rPr spc="23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issuance, </a:t>
            </a:r>
            <a:r>
              <a:rPr dirty="0">
                <a:latin typeface="Cambria"/>
                <a:cs typeface="Cambria"/>
              </a:rPr>
              <a:t>double</a:t>
            </a:r>
            <a:r>
              <a:rPr spc="2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bookings,</a:t>
            </a:r>
            <a:r>
              <a:rPr spc="2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or</a:t>
            </a:r>
            <a:r>
              <a:rPr spc="2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lost</a:t>
            </a:r>
            <a:r>
              <a:rPr spc="2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records,</a:t>
            </a:r>
            <a:r>
              <a:rPr spc="2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which</a:t>
            </a:r>
            <a:r>
              <a:rPr spc="2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can</a:t>
            </a:r>
            <a:r>
              <a:rPr spc="2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cause</a:t>
            </a:r>
            <a:r>
              <a:rPr spc="2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further</a:t>
            </a:r>
            <a:r>
              <a:rPr spc="2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delays</a:t>
            </a:r>
            <a:r>
              <a:rPr spc="2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280" dirty="0">
                <a:latin typeface="Cambria"/>
                <a:cs typeface="Cambria"/>
              </a:rPr>
              <a:t> </a:t>
            </a:r>
            <a:r>
              <a:rPr spc="45" dirty="0">
                <a:latin typeface="Cambria"/>
                <a:cs typeface="Cambria"/>
              </a:rPr>
              <a:t>inconvenience.</a:t>
            </a:r>
            <a:r>
              <a:rPr spc="2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Overall,</a:t>
            </a:r>
            <a:r>
              <a:rPr spc="2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these</a:t>
            </a:r>
            <a:r>
              <a:rPr spc="29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challenges </a:t>
            </a:r>
            <a:r>
              <a:rPr dirty="0">
                <a:latin typeface="Cambria"/>
                <a:cs typeface="Cambria"/>
              </a:rPr>
              <a:t>associated</a:t>
            </a:r>
            <a:r>
              <a:rPr spc="-5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with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manual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ticket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booking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systems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significantly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detract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from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visitor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experience,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reducing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satisfaction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potentially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impacting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museum's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reputation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visitor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23520" algn="l"/>
              </a:tabLst>
            </a:pPr>
            <a:r>
              <a:rPr b="1" dirty="0">
                <a:latin typeface="Cambria"/>
                <a:cs typeface="Cambria"/>
              </a:rPr>
              <a:t>Automate</a:t>
            </a:r>
            <a:r>
              <a:rPr b="1" spc="-3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the</a:t>
            </a:r>
            <a:r>
              <a:rPr b="1" spc="-3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Ticket</a:t>
            </a:r>
            <a:r>
              <a:rPr b="1" spc="-3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Booking</a:t>
            </a:r>
            <a:r>
              <a:rPr b="1" spc="-40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Process: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Cambria"/>
              <a:buAutoNum type="arabicPeriod"/>
            </a:pPr>
            <a:endParaRPr b="1" spc="-10" dirty="0">
              <a:latin typeface="Cambria"/>
              <a:cs typeface="Cambria"/>
            </a:endParaRPr>
          </a:p>
          <a:p>
            <a:pPr marL="203200" marR="5080" indent="-127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Cambria"/>
                <a:cs typeface="Cambria"/>
              </a:rPr>
              <a:t>Replace</a:t>
            </a:r>
            <a:r>
              <a:rPr spc="10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manual</a:t>
            </a:r>
            <a:r>
              <a:rPr spc="1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ticketing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system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with</a:t>
            </a:r>
            <a:r>
              <a:rPr spc="1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</a:t>
            </a:r>
            <a:r>
              <a:rPr spc="1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fully</a:t>
            </a:r>
            <a:r>
              <a:rPr spc="1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automated</a:t>
            </a:r>
            <a:r>
              <a:rPr spc="1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chatbot</a:t>
            </a:r>
            <a:r>
              <a:rPr spc="1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solution</a:t>
            </a:r>
            <a:r>
              <a:rPr spc="1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that</a:t>
            </a:r>
            <a:r>
              <a:rPr spc="1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can</a:t>
            </a:r>
            <a:r>
              <a:rPr spc="1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handle</a:t>
            </a:r>
            <a:r>
              <a:rPr spc="1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entry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passes,</a:t>
            </a:r>
            <a:r>
              <a:rPr spc="12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special </a:t>
            </a:r>
            <a:r>
              <a:rPr dirty="0">
                <a:latin typeface="Cambria"/>
                <a:cs typeface="Cambria"/>
              </a:rPr>
              <a:t>exhibition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tickets,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show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reservations.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pc="-10" dirty="0">
              <a:latin typeface="Cambria"/>
              <a:cs typeface="Cambria"/>
            </a:endParaRPr>
          </a:p>
          <a:p>
            <a:pPr marL="223520" indent="-210820">
              <a:lnSpc>
                <a:spcPct val="100000"/>
              </a:lnSpc>
              <a:buAutoNum type="arabicPeriod" startAt="2"/>
              <a:tabLst>
                <a:tab pos="223520" algn="l"/>
              </a:tabLst>
            </a:pPr>
            <a:r>
              <a:rPr b="1" dirty="0">
                <a:latin typeface="Cambria"/>
                <a:cs typeface="Cambria"/>
              </a:rPr>
              <a:t>Reduce</a:t>
            </a:r>
            <a:r>
              <a:rPr b="1" spc="-4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Visitor</a:t>
            </a:r>
            <a:r>
              <a:rPr b="1" spc="-3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Wait</a:t>
            </a:r>
            <a:r>
              <a:rPr b="1" spc="-3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Times: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Cambria"/>
              <a:buAutoNum type="arabicPeriod" startAt="2"/>
            </a:pPr>
            <a:endParaRPr b="1" spc="-10" dirty="0">
              <a:latin typeface="Cambria"/>
              <a:cs typeface="Cambria"/>
            </a:endParaRPr>
          </a:p>
          <a:p>
            <a:pPr marL="203200" marR="5080" indent="-12700">
              <a:lnSpc>
                <a:spcPct val="100000"/>
              </a:lnSpc>
            </a:pPr>
            <a:r>
              <a:rPr spc="75" dirty="0">
                <a:latin typeface="Cambria"/>
                <a:cs typeface="Cambria"/>
              </a:rPr>
              <a:t>Minimize</a:t>
            </a:r>
            <a:r>
              <a:rPr spc="204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queues</a:t>
            </a:r>
            <a:r>
              <a:rPr spc="210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and</a:t>
            </a:r>
            <a:r>
              <a:rPr spc="220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manual</a:t>
            </a:r>
            <a:r>
              <a:rPr spc="220" dirty="0">
                <a:latin typeface="Cambria"/>
                <a:cs typeface="Cambria"/>
              </a:rPr>
              <a:t> </a:t>
            </a:r>
            <a:r>
              <a:rPr spc="85" dirty="0">
                <a:latin typeface="Cambria"/>
                <a:cs typeface="Cambria"/>
              </a:rPr>
              <a:t>processing</a:t>
            </a:r>
            <a:r>
              <a:rPr spc="215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delays</a:t>
            </a:r>
            <a:r>
              <a:rPr spc="22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by</a:t>
            </a:r>
            <a:r>
              <a:rPr spc="215" dirty="0">
                <a:latin typeface="Cambria"/>
                <a:cs typeface="Cambria"/>
              </a:rPr>
              <a:t> </a:t>
            </a:r>
            <a:r>
              <a:rPr spc="80" dirty="0">
                <a:latin typeface="Cambria"/>
                <a:cs typeface="Cambria"/>
              </a:rPr>
              <a:t>enabling</a:t>
            </a:r>
            <a:r>
              <a:rPr spc="220" dirty="0">
                <a:latin typeface="Cambria"/>
                <a:cs typeface="Cambria"/>
              </a:rPr>
              <a:t> </a:t>
            </a:r>
            <a:r>
              <a:rPr spc="90" dirty="0">
                <a:latin typeface="Cambria"/>
                <a:cs typeface="Cambria"/>
              </a:rPr>
              <a:t>real-</a:t>
            </a:r>
            <a:r>
              <a:rPr spc="65" dirty="0">
                <a:latin typeface="Cambria"/>
                <a:cs typeface="Cambria"/>
              </a:rPr>
              <a:t>time</a:t>
            </a:r>
            <a:r>
              <a:rPr spc="215" dirty="0">
                <a:latin typeface="Cambria"/>
                <a:cs typeface="Cambria"/>
              </a:rPr>
              <a:t> </a:t>
            </a:r>
            <a:r>
              <a:rPr spc="75" dirty="0">
                <a:latin typeface="Cambria"/>
                <a:cs typeface="Cambria"/>
              </a:rPr>
              <a:t>online</a:t>
            </a:r>
            <a:r>
              <a:rPr spc="215" dirty="0">
                <a:latin typeface="Cambria"/>
                <a:cs typeface="Cambria"/>
              </a:rPr>
              <a:t> </a:t>
            </a:r>
            <a:r>
              <a:rPr spc="80" dirty="0">
                <a:latin typeface="Cambria"/>
                <a:cs typeface="Cambria"/>
              </a:rPr>
              <a:t>ticket</a:t>
            </a:r>
            <a:r>
              <a:rPr spc="220" dirty="0">
                <a:latin typeface="Cambria"/>
                <a:cs typeface="Cambria"/>
              </a:rPr>
              <a:t> </a:t>
            </a:r>
            <a:r>
              <a:rPr spc="75" dirty="0">
                <a:latin typeface="Cambria"/>
                <a:cs typeface="Cambria"/>
              </a:rPr>
              <a:t>booking</a:t>
            </a:r>
            <a:r>
              <a:rPr spc="215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and</a:t>
            </a:r>
            <a:r>
              <a:rPr spc="220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instant </a:t>
            </a:r>
            <a:r>
              <a:rPr spc="-10" dirty="0">
                <a:latin typeface="Cambria"/>
                <a:cs typeface="Cambria"/>
              </a:rPr>
              <a:t>confirmations.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pc="-10" dirty="0">
              <a:latin typeface="Cambria"/>
              <a:cs typeface="Cambria"/>
            </a:endParaRPr>
          </a:p>
          <a:p>
            <a:pPr marL="223520" indent="-210820">
              <a:lnSpc>
                <a:spcPct val="100000"/>
              </a:lnSpc>
              <a:buAutoNum type="arabicPeriod" startAt="3"/>
              <a:tabLst>
                <a:tab pos="223520" algn="l"/>
              </a:tabLst>
            </a:pPr>
            <a:r>
              <a:rPr b="1" dirty="0">
                <a:latin typeface="Cambria"/>
                <a:cs typeface="Cambria"/>
              </a:rPr>
              <a:t>Enhance</a:t>
            </a:r>
            <a:r>
              <a:rPr b="1" spc="-4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Visitor</a:t>
            </a:r>
            <a:r>
              <a:rPr b="1" spc="-40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Experience: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Cambria"/>
              <a:buAutoNum type="arabicPeriod" startAt="3"/>
            </a:pPr>
            <a:endParaRPr b="1" spc="-10" dirty="0">
              <a:latin typeface="Cambria"/>
              <a:cs typeface="Cambria"/>
            </a:endParaRPr>
          </a:p>
          <a:p>
            <a:pPr marL="190500">
              <a:lnSpc>
                <a:spcPct val="100000"/>
              </a:lnSpc>
            </a:pPr>
            <a:r>
              <a:rPr dirty="0">
                <a:latin typeface="Cambria"/>
                <a:cs typeface="Cambria"/>
              </a:rPr>
              <a:t>Provide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user-</a:t>
            </a:r>
            <a:r>
              <a:rPr dirty="0">
                <a:latin typeface="Cambria"/>
                <a:cs typeface="Cambria"/>
              </a:rPr>
              <a:t>friendly,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multilingual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chatbot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interface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that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makes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booking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simple,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fast,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accessible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for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all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visitors.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pc="-10" dirty="0">
              <a:latin typeface="Cambria"/>
              <a:cs typeface="Cambria"/>
            </a:endParaRPr>
          </a:p>
          <a:p>
            <a:pPr marL="223520" indent="-210820">
              <a:lnSpc>
                <a:spcPct val="100000"/>
              </a:lnSpc>
              <a:buAutoNum type="arabicPeriod" startAt="4"/>
              <a:tabLst>
                <a:tab pos="223520" algn="l"/>
              </a:tabLst>
            </a:pPr>
            <a:r>
              <a:rPr b="1" dirty="0">
                <a:latin typeface="Cambria"/>
                <a:cs typeface="Cambria"/>
              </a:rPr>
              <a:t>Ensure</a:t>
            </a:r>
            <a:r>
              <a:rPr b="1" spc="-5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Payment</a:t>
            </a:r>
            <a:r>
              <a:rPr b="1" spc="-4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Integration: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b="1" spc="-10" dirty="0">
              <a:latin typeface="Cambria"/>
              <a:cs typeface="Cambria"/>
            </a:endParaRPr>
          </a:p>
          <a:p>
            <a:pPr marL="1905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Cambria"/>
                <a:cs typeface="Cambria"/>
              </a:rPr>
              <a:t>Integrate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secure,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reliable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payment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gateways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allow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complete</a:t>
            </a:r>
            <a:r>
              <a:rPr spc="-5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booking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payment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without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human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223520" algn="l"/>
              </a:tabLst>
            </a:pPr>
            <a:r>
              <a:rPr b="1" dirty="0">
                <a:latin typeface="Cambria"/>
                <a:cs typeface="Cambria"/>
              </a:rPr>
              <a:t>Improve</a:t>
            </a:r>
            <a:r>
              <a:rPr b="1" spc="-6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Operational</a:t>
            </a:r>
            <a:r>
              <a:rPr b="1" spc="-60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Efficiency</a:t>
            </a:r>
          </a:p>
          <a:p>
            <a:pPr>
              <a:lnSpc>
                <a:spcPct val="100000"/>
              </a:lnSpc>
              <a:spcBef>
                <a:spcPts val="40"/>
              </a:spcBef>
              <a:buFont typeface="Cambria"/>
              <a:buAutoNum type="arabicPeriod" startAt="5"/>
            </a:pPr>
            <a:endParaRPr b="1" spc="-10" dirty="0">
              <a:latin typeface="Cambria"/>
              <a:cs typeface="Cambria"/>
            </a:endParaRPr>
          </a:p>
          <a:p>
            <a:pPr marL="203200" marR="5080" indent="-12700">
              <a:lnSpc>
                <a:spcPct val="100000"/>
              </a:lnSpc>
              <a:spcBef>
                <a:spcPts val="5"/>
              </a:spcBef>
            </a:pPr>
            <a:r>
              <a:rPr spc="60" dirty="0">
                <a:latin typeface="Cambria"/>
                <a:cs typeface="Cambria"/>
              </a:rPr>
              <a:t>Streamline</a:t>
            </a:r>
            <a:r>
              <a:rPr spc="185" dirty="0">
                <a:latin typeface="Cambria"/>
                <a:cs typeface="Cambria"/>
              </a:rPr>
              <a:t> </a:t>
            </a:r>
            <a:r>
              <a:rPr spc="60" dirty="0">
                <a:latin typeface="Cambria"/>
                <a:cs typeface="Cambria"/>
              </a:rPr>
              <a:t>booking,</a:t>
            </a:r>
            <a:r>
              <a:rPr spc="195" dirty="0">
                <a:latin typeface="Cambria"/>
                <a:cs typeface="Cambria"/>
              </a:rPr>
              <a:t> </a:t>
            </a:r>
            <a:r>
              <a:rPr spc="60" dirty="0">
                <a:latin typeface="Cambria"/>
                <a:cs typeface="Cambria"/>
              </a:rPr>
              <a:t>confirmation,</a:t>
            </a:r>
            <a:r>
              <a:rPr spc="1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spc="65" dirty="0">
                <a:latin typeface="Cambria"/>
                <a:cs typeface="Cambria"/>
              </a:rPr>
              <a:t>record-</a:t>
            </a:r>
            <a:r>
              <a:rPr spc="60" dirty="0">
                <a:latin typeface="Cambria"/>
                <a:cs typeface="Cambria"/>
              </a:rPr>
              <a:t>keeping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spc="60" dirty="0">
                <a:latin typeface="Cambria"/>
                <a:cs typeface="Cambria"/>
              </a:rPr>
              <a:t>processes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195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reduce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staff</a:t>
            </a:r>
            <a:r>
              <a:rPr spc="185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workload</a:t>
            </a:r>
            <a:r>
              <a:rPr spc="1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204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operational </a:t>
            </a:r>
            <a:r>
              <a:rPr spc="-10" dirty="0">
                <a:latin typeface="Cambria"/>
                <a:cs typeface="Cambria"/>
              </a:rPr>
              <a:t>bottlenecks.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pc="-10" dirty="0">
              <a:latin typeface="Cambria"/>
              <a:cs typeface="Cambria"/>
            </a:endParaRPr>
          </a:p>
          <a:p>
            <a:pPr marL="223520" indent="-210820">
              <a:lnSpc>
                <a:spcPct val="100000"/>
              </a:lnSpc>
              <a:buAutoNum type="arabicPeriod" startAt="6"/>
              <a:tabLst>
                <a:tab pos="223520" algn="l"/>
              </a:tabLst>
            </a:pPr>
            <a:r>
              <a:rPr b="1" dirty="0">
                <a:latin typeface="Cambria"/>
                <a:cs typeface="Cambria"/>
              </a:rPr>
              <a:t>Minimize</a:t>
            </a:r>
            <a:r>
              <a:rPr b="1" spc="-3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Human</a:t>
            </a:r>
            <a:r>
              <a:rPr b="1" spc="-2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Errors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Cambria"/>
              <a:buAutoNum type="arabicPeriod" startAt="6"/>
            </a:pPr>
            <a:endParaRPr b="1" spc="-10" dirty="0">
              <a:latin typeface="Cambria"/>
              <a:cs typeface="Cambria"/>
            </a:endParaRPr>
          </a:p>
          <a:p>
            <a:pPr marL="203200" marR="48895" indent="-12700">
              <a:lnSpc>
                <a:spcPct val="100000"/>
              </a:lnSpc>
            </a:pPr>
            <a:r>
              <a:rPr dirty="0">
                <a:latin typeface="Cambria"/>
                <a:cs typeface="Cambria"/>
              </a:rPr>
              <a:t>Reduce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mistakes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such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as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double-</a:t>
            </a:r>
            <a:r>
              <a:rPr dirty="0">
                <a:latin typeface="Cambria"/>
                <a:cs typeface="Cambria"/>
              </a:rPr>
              <a:t>booking,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incorrect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ticket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issuance,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or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lost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records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through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automated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validation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25" dirty="0">
                <a:latin typeface="Cambria"/>
                <a:cs typeface="Cambria"/>
              </a:rPr>
              <a:t>and </a:t>
            </a:r>
            <a:r>
              <a:rPr spc="-10" dirty="0">
                <a:latin typeface="Cambria"/>
                <a:cs typeface="Cambria"/>
              </a:rPr>
              <a:t>confirmation.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pc="-10" dirty="0">
              <a:latin typeface="Cambria"/>
              <a:cs typeface="Cambria"/>
            </a:endParaRPr>
          </a:p>
          <a:p>
            <a:pPr marL="223520" indent="-210820">
              <a:lnSpc>
                <a:spcPct val="100000"/>
              </a:lnSpc>
              <a:buAutoNum type="arabicPeriod" startAt="7"/>
              <a:tabLst>
                <a:tab pos="223520" algn="l"/>
              </a:tabLst>
            </a:pPr>
            <a:r>
              <a:rPr b="1" dirty="0">
                <a:latin typeface="Cambria"/>
                <a:cs typeface="Cambria"/>
              </a:rPr>
              <a:t>Provide</a:t>
            </a:r>
            <a:r>
              <a:rPr b="1" spc="-4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Accessibility</a:t>
            </a:r>
            <a:r>
              <a:rPr b="1" spc="-4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for</a:t>
            </a:r>
            <a:r>
              <a:rPr b="1" spc="-45" dirty="0">
                <a:latin typeface="Cambria"/>
                <a:cs typeface="Cambria"/>
              </a:rPr>
              <a:t> </a:t>
            </a:r>
            <a:r>
              <a:rPr b="1" spc="-25" dirty="0">
                <a:latin typeface="Cambria"/>
                <a:cs typeface="Cambria"/>
              </a:rPr>
              <a:t>All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Cambria"/>
              <a:buAutoNum type="arabicPeriod" startAt="7"/>
            </a:pPr>
            <a:endParaRPr b="1" spc="-25" dirty="0">
              <a:latin typeface="Cambria"/>
              <a:cs typeface="Cambria"/>
            </a:endParaRPr>
          </a:p>
          <a:p>
            <a:pPr marL="203200" marR="5080" indent="-12700">
              <a:lnSpc>
                <a:spcPct val="100000"/>
              </a:lnSpc>
            </a:pPr>
            <a:r>
              <a:rPr dirty="0">
                <a:latin typeface="Cambria"/>
                <a:cs typeface="Cambria"/>
              </a:rPr>
              <a:t>Ensure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that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1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chatbot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is</a:t>
            </a:r>
            <a:r>
              <a:rPr spc="1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available</a:t>
            </a:r>
            <a:r>
              <a:rPr spc="1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across</a:t>
            </a:r>
            <a:r>
              <a:rPr spc="1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devices</a:t>
            </a:r>
            <a:r>
              <a:rPr spc="1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(mobile,</a:t>
            </a:r>
            <a:r>
              <a:rPr spc="1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desktop,</a:t>
            </a:r>
            <a:r>
              <a:rPr spc="1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kiosks)</a:t>
            </a:r>
            <a:r>
              <a:rPr spc="1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1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supports</a:t>
            </a:r>
            <a:r>
              <a:rPr spc="1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multiple</a:t>
            </a:r>
            <a:r>
              <a:rPr spc="17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languages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spc="-25" dirty="0">
                <a:latin typeface="Cambria"/>
                <a:cs typeface="Cambria"/>
              </a:rPr>
              <a:t>for </a:t>
            </a:r>
            <a:r>
              <a:rPr spc="-10" dirty="0">
                <a:latin typeface="Cambria"/>
                <a:cs typeface="Cambria"/>
              </a:rPr>
              <a:t>inclusivity.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pc="-10" dirty="0">
              <a:latin typeface="Cambria"/>
              <a:cs typeface="Cambria"/>
            </a:endParaRPr>
          </a:p>
          <a:p>
            <a:pPr marL="223520" indent="-210820">
              <a:lnSpc>
                <a:spcPct val="100000"/>
              </a:lnSpc>
              <a:buAutoNum type="arabicPeriod" startAt="8"/>
              <a:tabLst>
                <a:tab pos="223520" algn="l"/>
              </a:tabLst>
            </a:pPr>
            <a:r>
              <a:rPr b="1" dirty="0">
                <a:latin typeface="Cambria"/>
                <a:cs typeface="Cambria"/>
              </a:rPr>
              <a:t>Handle</a:t>
            </a:r>
            <a:r>
              <a:rPr b="1" spc="-2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High</a:t>
            </a:r>
            <a:r>
              <a:rPr b="1" spc="-2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Booking</a:t>
            </a:r>
            <a:r>
              <a:rPr b="1" spc="-30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Volumes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b="1" spc="-10" dirty="0">
              <a:latin typeface="Cambria"/>
              <a:cs typeface="Cambria"/>
            </a:endParaRPr>
          </a:p>
          <a:p>
            <a:pPr marL="203200" marR="5080" indent="-127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Cambria"/>
                <a:cs typeface="Cambria"/>
              </a:rPr>
              <a:t>Design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spc="1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system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1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efficiently</a:t>
            </a:r>
            <a:r>
              <a:rPr spc="2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manage</a:t>
            </a:r>
            <a:r>
              <a:rPr spc="1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large-scale</a:t>
            </a:r>
            <a:r>
              <a:rPr spc="1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ticket</a:t>
            </a:r>
            <a:r>
              <a:rPr spc="2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requests</a:t>
            </a:r>
            <a:r>
              <a:rPr spc="2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during</a:t>
            </a:r>
            <a:r>
              <a:rPr spc="2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peak</a:t>
            </a:r>
            <a:r>
              <a:rPr spc="2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seasons</a:t>
            </a:r>
            <a:r>
              <a:rPr spc="204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or</a:t>
            </a:r>
            <a:r>
              <a:rPr spc="1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major</a:t>
            </a:r>
            <a:r>
              <a:rPr spc="2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events</a:t>
            </a:r>
            <a:r>
              <a:rPr spc="20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without downtime.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Background</a:t>
            </a:r>
            <a:r>
              <a:rPr spc="-7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Related</a:t>
            </a:r>
            <a:r>
              <a:rPr spc="-70" dirty="0"/>
              <a:t> </a:t>
            </a:r>
            <a:r>
              <a:rPr dirty="0"/>
              <a:t>work</a:t>
            </a:r>
            <a:r>
              <a:rPr spc="-7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dirty="0"/>
              <a:t>title</a:t>
            </a:r>
            <a:r>
              <a:rPr spc="-75" dirty="0"/>
              <a:t> </a:t>
            </a:r>
            <a:r>
              <a:rPr spc="-10" dirty="0"/>
              <a:t>Selection: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4515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mbria"/>
                <a:cs typeface="Cambria"/>
              </a:rPr>
              <a:t>1</a:t>
            </a:r>
            <a:r>
              <a:rPr sz="1600" b="1" spc="-10" dirty="0">
                <a:latin typeface="Cambria"/>
                <a:cs typeface="Cambria"/>
              </a:rPr>
              <a:t> Frontend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600" spc="-20" dirty="0">
                <a:latin typeface="Cambria"/>
                <a:cs typeface="Cambria"/>
              </a:rPr>
              <a:t>HTML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600" spc="-25" dirty="0">
                <a:latin typeface="Cambria"/>
                <a:cs typeface="Cambria"/>
              </a:rPr>
              <a:t>CSS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600" spc="-10" dirty="0">
                <a:latin typeface="Cambria"/>
                <a:cs typeface="Cambria"/>
              </a:rPr>
              <a:t>JavaScript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Cambria"/>
                <a:cs typeface="Cambria"/>
              </a:rPr>
              <a:t>2</a:t>
            </a:r>
            <a:r>
              <a:rPr sz="1600" b="1" spc="-10" dirty="0">
                <a:latin typeface="Cambria"/>
                <a:cs typeface="Cambria"/>
              </a:rPr>
              <a:t> Backend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mbria"/>
                <a:cs typeface="Cambria"/>
              </a:rPr>
              <a:t>Python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Flask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mbria"/>
                <a:cs typeface="Cambria"/>
              </a:rPr>
              <a:t>3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AI/ML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Model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mbria"/>
                <a:cs typeface="Cambria"/>
              </a:rPr>
              <a:t>Natural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Language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Processing(NLP):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TensorFlow,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PyTorch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mbria"/>
                <a:cs typeface="Cambria"/>
              </a:rPr>
              <a:t>4</a:t>
            </a:r>
            <a:r>
              <a:rPr sz="1600" b="1" spc="-10" dirty="0">
                <a:latin typeface="Cambria"/>
                <a:cs typeface="Cambria"/>
              </a:rPr>
              <a:t> Database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600" dirty="0">
                <a:latin typeface="Cambria"/>
                <a:cs typeface="Cambria"/>
              </a:rPr>
              <a:t>MySQL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Database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600">
              <a:latin typeface="Cambria"/>
              <a:cs typeface="Cambria"/>
            </a:endParaRPr>
          </a:p>
          <a:p>
            <a:pPr marL="57150">
              <a:lnSpc>
                <a:spcPct val="100000"/>
              </a:lnSpc>
            </a:pPr>
            <a:r>
              <a:rPr sz="1600" b="1" dirty="0">
                <a:latin typeface="Cambria"/>
                <a:cs typeface="Cambria"/>
              </a:rPr>
              <a:t>5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Development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Tools:</a:t>
            </a:r>
            <a:endParaRPr sz="16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b="1" dirty="0">
                <a:latin typeface="Cambria"/>
                <a:cs typeface="Cambria"/>
              </a:rPr>
              <a:t>IDE/Text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Editor: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Tools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like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Code,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PyCharm</a:t>
            </a:r>
            <a:endParaRPr sz="16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b="1" dirty="0">
                <a:latin typeface="Cambria"/>
                <a:cs typeface="Cambria"/>
              </a:rPr>
              <a:t>Testing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and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Debugging: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Web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Browser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Chrome,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Firefox,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Edge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)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Postman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API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Testing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)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043305" y="1311910"/>
            <a:ext cx="9404350" cy="4408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mbria"/>
                <a:cs typeface="Cambria"/>
              </a:rPr>
              <a:t>1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Development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Machine</a:t>
            </a:r>
            <a:endParaRPr sz="16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b="1" dirty="0">
                <a:latin typeface="Cambria"/>
                <a:cs typeface="Cambria"/>
              </a:rPr>
              <a:t>Processor: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modern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multi-</a:t>
            </a:r>
            <a:r>
              <a:rPr sz="1600" dirty="0">
                <a:latin typeface="Cambria"/>
                <a:cs typeface="Cambria"/>
              </a:rPr>
              <a:t>core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processor(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e.g.,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Intel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i3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AMD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Ryzen)</a:t>
            </a:r>
            <a:endParaRPr sz="16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b="1" dirty="0">
                <a:latin typeface="Cambria"/>
                <a:cs typeface="Cambria"/>
              </a:rPr>
              <a:t>RAM: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At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least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4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35" dirty="0">
                <a:latin typeface="Cambria"/>
                <a:cs typeface="Cambria"/>
              </a:rPr>
              <a:t>GB</a:t>
            </a:r>
            <a:endParaRPr sz="16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b="1" dirty="0">
                <a:latin typeface="Cambria"/>
                <a:cs typeface="Cambria"/>
              </a:rPr>
              <a:t>Storage: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10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GB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recommended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mbria"/>
                <a:cs typeface="Cambria"/>
              </a:rPr>
              <a:t>2</a:t>
            </a:r>
            <a:r>
              <a:rPr sz="1600" b="1" spc="-10" dirty="0">
                <a:latin typeface="Cambria"/>
                <a:cs typeface="Cambria"/>
              </a:rPr>
              <a:t> Network:</a:t>
            </a:r>
            <a:endParaRPr sz="16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b="1" dirty="0">
                <a:latin typeface="Cambria"/>
                <a:cs typeface="Cambria"/>
              </a:rPr>
              <a:t>Internet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Connection: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Stable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8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standard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speed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internet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connection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development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deployement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Arial MT"/>
              <a:buChar char="•"/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mbria"/>
                <a:cs typeface="Cambria"/>
              </a:rPr>
              <a:t>3</a:t>
            </a:r>
            <a:r>
              <a:rPr sz="1600" b="1" spc="29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Additional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Hardware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(Optional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for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Deployment)</a:t>
            </a:r>
            <a:endParaRPr sz="16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b="1" dirty="0">
                <a:latin typeface="Cambria"/>
                <a:cs typeface="Cambria"/>
              </a:rPr>
              <a:t>Cloud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Server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or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Hosting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Service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(AWS,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Azure,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GCP,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or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DigitalOcean)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production.</a:t>
            </a:r>
            <a:endParaRPr sz="160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b="1" dirty="0">
                <a:latin typeface="Cambria"/>
                <a:cs typeface="Cambria"/>
              </a:rPr>
              <a:t>QR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Code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Scanner</a:t>
            </a:r>
            <a:r>
              <a:rPr sz="1600" dirty="0">
                <a:latin typeface="Cambria"/>
                <a:cs typeface="Cambria"/>
              </a:rPr>
              <a:t>: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ticket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validation.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305" y="1311910"/>
            <a:ext cx="10359390" cy="482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sz="1600" b="1" dirty="0">
                <a:latin typeface="Cambria"/>
                <a:cs typeface="Cambria"/>
              </a:rPr>
              <a:t>Multilingual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AI-</a:t>
            </a:r>
            <a:r>
              <a:rPr sz="1600" b="1" dirty="0">
                <a:latin typeface="Cambria"/>
                <a:cs typeface="Cambria"/>
              </a:rPr>
              <a:t>Powered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Chatbot:</a:t>
            </a:r>
            <a:endParaRPr sz="1600">
              <a:latin typeface="Cambria"/>
              <a:cs typeface="Cambria"/>
            </a:endParaRPr>
          </a:p>
          <a:p>
            <a:pPr marL="469900" marR="5080">
              <a:lnSpc>
                <a:spcPct val="169800"/>
              </a:lnSpc>
            </a:pPr>
            <a:r>
              <a:rPr sz="1600" dirty="0">
                <a:latin typeface="Cambria"/>
                <a:cs typeface="Cambria"/>
              </a:rPr>
              <a:t>Integration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Natural</a:t>
            </a:r>
            <a:r>
              <a:rPr sz="1600" spc="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Language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Processing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(NLP)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using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TensorFlow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PyTorch</a:t>
            </a:r>
            <a:r>
              <a:rPr sz="1600" spc="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enable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real-time</a:t>
            </a:r>
            <a:r>
              <a:rPr sz="1600" spc="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interaction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multiple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languages,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improving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accessibility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diverse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visitors.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sz="1600" b="1" spc="-10" dirty="0">
                <a:latin typeface="Cambria"/>
                <a:cs typeface="Cambria"/>
              </a:rPr>
              <a:t>End-to-</a:t>
            </a:r>
            <a:r>
              <a:rPr sz="1600" b="1" dirty="0">
                <a:latin typeface="Cambria"/>
                <a:cs typeface="Cambria"/>
              </a:rPr>
              <a:t>End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Automated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Ticketing:</a:t>
            </a:r>
            <a:endParaRPr sz="1600">
              <a:latin typeface="Cambria"/>
              <a:cs typeface="Cambria"/>
            </a:endParaRPr>
          </a:p>
          <a:p>
            <a:pPr marL="469900" marR="5080">
              <a:lnSpc>
                <a:spcPct val="169800"/>
              </a:lnSpc>
            </a:pPr>
            <a:r>
              <a:rPr sz="1600" dirty="0">
                <a:latin typeface="Cambria"/>
                <a:cs typeface="Cambria"/>
              </a:rPr>
              <a:t>From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entry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pass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booking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show</a:t>
            </a:r>
            <a:r>
              <a:rPr sz="1600" spc="204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reservations,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payment</a:t>
            </a:r>
            <a:r>
              <a:rPr sz="1600" spc="21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gateway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integration,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eliminating</a:t>
            </a:r>
            <a:r>
              <a:rPr sz="1600" spc="21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human </a:t>
            </a:r>
            <a:r>
              <a:rPr sz="1600" dirty="0">
                <a:latin typeface="Cambria"/>
                <a:cs typeface="Cambria"/>
              </a:rPr>
              <a:t>intervention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entire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booking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cycle.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3"/>
              <a:tabLst>
                <a:tab pos="354965" algn="l"/>
              </a:tabLst>
            </a:pPr>
            <a:r>
              <a:rPr sz="1600" b="1" dirty="0">
                <a:latin typeface="Cambria"/>
                <a:cs typeface="Cambria"/>
              </a:rPr>
              <a:t>Smart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Queue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Management:</a:t>
            </a:r>
            <a:endParaRPr sz="1600">
              <a:latin typeface="Cambria"/>
              <a:cs typeface="Cambria"/>
            </a:endParaRPr>
          </a:p>
          <a:p>
            <a:pPr marL="469900" marR="5080">
              <a:lnSpc>
                <a:spcPct val="169800"/>
              </a:lnSpc>
            </a:pPr>
            <a:r>
              <a:rPr sz="1600" dirty="0">
                <a:latin typeface="Cambria"/>
                <a:cs typeface="Cambria"/>
              </a:rPr>
              <a:t>Predictive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load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handling</a:t>
            </a:r>
            <a:r>
              <a:rPr sz="1600" spc="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during</a:t>
            </a:r>
            <a:r>
              <a:rPr sz="1600" spc="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peak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hours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using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AI-based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booking</a:t>
            </a:r>
            <a:r>
              <a:rPr sz="1600" spc="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pattern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analysis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avoid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system</a:t>
            </a:r>
            <a:r>
              <a:rPr sz="1600" spc="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slowdowns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ensure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smooth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visitor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flow.</a:t>
            </a:r>
            <a:endParaRPr sz="16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4"/>
              <a:tabLst>
                <a:tab pos="354965" algn="l"/>
              </a:tabLst>
            </a:pPr>
            <a:r>
              <a:rPr sz="1600" b="1" dirty="0">
                <a:latin typeface="Cambria"/>
                <a:cs typeface="Cambria"/>
              </a:rPr>
              <a:t>Personalized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Visitor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Interaction:</a:t>
            </a:r>
            <a:endParaRPr sz="1600">
              <a:latin typeface="Cambria"/>
              <a:cs typeface="Cambria"/>
            </a:endParaRPr>
          </a:p>
          <a:p>
            <a:pPr marL="469900" marR="5080">
              <a:lnSpc>
                <a:spcPct val="169800"/>
              </a:lnSpc>
            </a:pPr>
            <a:r>
              <a:rPr sz="1600" spc="-10" dirty="0">
                <a:latin typeface="Cambria"/>
                <a:cs typeface="Cambria"/>
              </a:rPr>
              <a:t>AI-</a:t>
            </a:r>
            <a:r>
              <a:rPr sz="1600" dirty="0">
                <a:latin typeface="Cambria"/>
                <a:cs typeface="Cambria"/>
              </a:rPr>
              <a:t>driven recommendations for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exhibitions, shows, and guided tours based on user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preferences and past</a:t>
            </a:r>
            <a:r>
              <a:rPr sz="1600" spc="-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booking history.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54965" algn="l"/>
              </a:tabLst>
            </a:pPr>
            <a:r>
              <a:rPr b="1" dirty="0">
                <a:latin typeface="Cambria"/>
                <a:cs typeface="Cambria"/>
              </a:rPr>
              <a:t>Integrated</a:t>
            </a:r>
            <a:r>
              <a:rPr b="1" spc="-55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Analytics</a:t>
            </a:r>
            <a:r>
              <a:rPr b="1" spc="-5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Dashboard:</a:t>
            </a:r>
          </a:p>
          <a:p>
            <a:pPr marL="469900" marR="5080">
              <a:lnSpc>
                <a:spcPct val="169800"/>
              </a:lnSpc>
            </a:pPr>
            <a:r>
              <a:rPr spc="-10" dirty="0">
                <a:latin typeface="Cambria"/>
                <a:cs typeface="Cambria"/>
              </a:rPr>
              <a:t>Real-</a:t>
            </a:r>
            <a:r>
              <a:rPr dirty="0">
                <a:latin typeface="Cambria"/>
                <a:cs typeface="Cambria"/>
              </a:rPr>
              <a:t>time</a:t>
            </a:r>
            <a:r>
              <a:rPr spc="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booking</a:t>
            </a:r>
            <a:r>
              <a:rPr spc="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visitor</a:t>
            </a:r>
            <a:r>
              <a:rPr spc="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trend</a:t>
            </a:r>
            <a:r>
              <a:rPr spc="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analytics</a:t>
            </a:r>
            <a:r>
              <a:rPr spc="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assist</a:t>
            </a:r>
            <a:r>
              <a:rPr spc="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museum</a:t>
            </a:r>
            <a:r>
              <a:rPr spc="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management</a:t>
            </a:r>
            <a:r>
              <a:rPr spc="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in</a:t>
            </a:r>
            <a:r>
              <a:rPr spc="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decision-making,</a:t>
            </a:r>
            <a:r>
              <a:rPr spc="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event</a:t>
            </a:r>
            <a:r>
              <a:rPr spc="3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planning,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targeted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promotions.</a:t>
            </a: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6"/>
              <a:tabLst>
                <a:tab pos="354965" algn="l"/>
              </a:tabLst>
            </a:pPr>
            <a:r>
              <a:rPr b="1" spc="-10" dirty="0">
                <a:latin typeface="Cambria"/>
                <a:cs typeface="Cambria"/>
              </a:rPr>
              <a:t>Error-</a:t>
            </a:r>
            <a:r>
              <a:rPr b="1" dirty="0">
                <a:latin typeface="Cambria"/>
                <a:cs typeface="Cambria"/>
              </a:rPr>
              <a:t>Free</a:t>
            </a:r>
            <a:r>
              <a:rPr b="1" spc="-20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Transactions:</a:t>
            </a:r>
          </a:p>
          <a:p>
            <a:pPr marL="469900">
              <a:lnSpc>
                <a:spcPct val="100000"/>
              </a:lnSpc>
              <a:spcBef>
                <a:spcPts val="1340"/>
              </a:spcBef>
            </a:pPr>
            <a:r>
              <a:rPr dirty="0">
                <a:latin typeface="Cambria"/>
                <a:cs typeface="Cambria"/>
              </a:rPr>
              <a:t>Automated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verification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system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to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prevent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double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bookings,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incorrect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ticket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issuance,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or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lost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records.</a:t>
            </a: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7"/>
              <a:tabLst>
                <a:tab pos="354965" algn="l"/>
              </a:tabLst>
            </a:pPr>
            <a:r>
              <a:rPr b="1" spc="-10" dirty="0">
                <a:latin typeface="Cambria"/>
                <a:cs typeface="Cambria"/>
              </a:rPr>
              <a:t>Cross-</a:t>
            </a:r>
            <a:r>
              <a:rPr b="1" dirty="0">
                <a:latin typeface="Cambria"/>
                <a:cs typeface="Cambria"/>
              </a:rPr>
              <a:t>Platform</a:t>
            </a:r>
            <a:r>
              <a:rPr b="1" spc="-5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Availability:</a:t>
            </a:r>
          </a:p>
          <a:p>
            <a:pPr marL="469900">
              <a:lnSpc>
                <a:spcPct val="100000"/>
              </a:lnSpc>
              <a:spcBef>
                <a:spcPts val="1340"/>
              </a:spcBef>
            </a:pPr>
            <a:r>
              <a:rPr dirty="0">
                <a:latin typeface="Cambria"/>
                <a:cs typeface="Cambria"/>
              </a:rPr>
              <a:t>Unified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chatbot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interface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accessible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via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web,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mobile,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2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on-</a:t>
            </a:r>
            <a:r>
              <a:rPr dirty="0">
                <a:latin typeface="Cambria"/>
                <a:cs typeface="Cambria"/>
              </a:rPr>
              <a:t>site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kiosks,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ensuring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inclusivity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ease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access.</a:t>
            </a: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8"/>
              <a:tabLst>
                <a:tab pos="354965" algn="l"/>
              </a:tabLst>
            </a:pPr>
            <a:r>
              <a:rPr b="1" dirty="0">
                <a:latin typeface="Cambria"/>
                <a:cs typeface="Cambria"/>
              </a:rPr>
              <a:t>QR</a:t>
            </a:r>
            <a:r>
              <a:rPr b="1" spc="-20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Code-</a:t>
            </a:r>
            <a:r>
              <a:rPr b="1" dirty="0">
                <a:latin typeface="Cambria"/>
                <a:cs typeface="Cambria"/>
              </a:rPr>
              <a:t>Based</a:t>
            </a:r>
            <a:r>
              <a:rPr b="1" spc="-20" dirty="0">
                <a:latin typeface="Cambria"/>
                <a:cs typeface="Cambria"/>
              </a:rPr>
              <a:t> </a:t>
            </a:r>
            <a:r>
              <a:rPr b="1" dirty="0">
                <a:latin typeface="Cambria"/>
                <a:cs typeface="Cambria"/>
              </a:rPr>
              <a:t>Entry</a:t>
            </a:r>
            <a:r>
              <a:rPr b="1" spc="-15" dirty="0">
                <a:latin typeface="Cambria"/>
                <a:cs typeface="Cambria"/>
              </a:rPr>
              <a:t> </a:t>
            </a:r>
            <a:r>
              <a:rPr b="1" spc="-10" dirty="0">
                <a:latin typeface="Cambria"/>
                <a:cs typeface="Cambria"/>
              </a:rPr>
              <a:t>Validation:</a:t>
            </a:r>
          </a:p>
          <a:p>
            <a:pPr marL="469900">
              <a:lnSpc>
                <a:spcPct val="100000"/>
              </a:lnSpc>
              <a:spcBef>
                <a:spcPts val="1340"/>
              </a:spcBef>
            </a:pPr>
            <a:r>
              <a:rPr dirty="0">
                <a:latin typeface="Cambria"/>
                <a:cs typeface="Cambria"/>
              </a:rPr>
              <a:t>Contactless,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fast,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secure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verification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system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reducing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entry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bottlenecks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and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enhancing</a:t>
            </a:r>
            <a:r>
              <a:rPr spc="-4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visitor</a:t>
            </a:r>
            <a:r>
              <a:rPr spc="-4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safety.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Github</a:t>
            </a:r>
            <a:r>
              <a:rPr spc="-65" dirty="0"/>
              <a:t> </a:t>
            </a:r>
            <a:r>
              <a:rPr spc="-20" dirty="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7128509" cy="144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"/>
                <a:cs typeface="Cambria"/>
              </a:rPr>
              <a:t>The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Github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link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provided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should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have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public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access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permission.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943735"/>
                </a:solidFill>
                <a:latin typeface="Cambria"/>
                <a:cs typeface="Cambria"/>
              </a:rPr>
              <a:t>Github</a:t>
            </a:r>
            <a:r>
              <a:rPr sz="1600" b="1" spc="-35" dirty="0">
                <a:solidFill>
                  <a:srgbClr val="943735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943735"/>
                </a:solidFill>
                <a:latin typeface="Cambria"/>
                <a:cs typeface="Cambria"/>
              </a:rPr>
              <a:t>Link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https://github.com/ISE-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45/PSCS-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481-Online-Chatbot-Based-Ticketing-System.git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Timeline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Project</a:t>
            </a:r>
            <a:r>
              <a:rPr spc="-55" dirty="0"/>
              <a:t> </a:t>
            </a:r>
            <a:r>
              <a:rPr dirty="0"/>
              <a:t>(Gantt</a:t>
            </a:r>
            <a:r>
              <a:rPr spc="-55" dirty="0"/>
              <a:t> </a:t>
            </a:r>
            <a:r>
              <a:rPr spc="-10" dirty="0"/>
              <a:t>Chart)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7190" y="4095750"/>
            <a:ext cx="153098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"/>
                <a:cs typeface="Cambria"/>
              </a:rPr>
              <a:t>Fig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1.</a:t>
            </a:r>
            <a:r>
              <a:rPr sz="1600" spc="-1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Gnatt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Chart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951" y="1481327"/>
            <a:ext cx="10721340" cy="25206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References</a:t>
            </a:r>
            <a:r>
              <a:rPr spc="-60" dirty="0"/>
              <a:t> </a:t>
            </a:r>
            <a:r>
              <a:rPr dirty="0"/>
              <a:t>(IEEE</a:t>
            </a:r>
            <a:r>
              <a:rPr spc="-60" dirty="0"/>
              <a:t> </a:t>
            </a:r>
            <a:r>
              <a:rPr dirty="0"/>
              <a:t>Paper</a:t>
            </a:r>
            <a:r>
              <a:rPr spc="-6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19734" algn="just">
              <a:lnSpc>
                <a:spcPct val="100000"/>
              </a:lnSpc>
              <a:spcBef>
                <a:spcPts val="95"/>
              </a:spcBef>
              <a:buAutoNum type="arabicPlain"/>
              <a:tabLst>
                <a:tab pos="432434" algn="l"/>
              </a:tabLst>
            </a:pPr>
            <a:r>
              <a:rPr dirty="0"/>
              <a:t>K.</a:t>
            </a:r>
            <a:r>
              <a:rPr spc="175" dirty="0"/>
              <a:t> </a:t>
            </a:r>
            <a:r>
              <a:rPr spc="60" dirty="0"/>
              <a:t>Štekerová,</a:t>
            </a:r>
            <a:r>
              <a:rPr spc="180" dirty="0"/>
              <a:t> </a:t>
            </a:r>
            <a:r>
              <a:rPr spc="60" dirty="0"/>
              <a:t>“Chatbots</a:t>
            </a:r>
            <a:r>
              <a:rPr spc="185" dirty="0"/>
              <a:t> </a:t>
            </a:r>
            <a:r>
              <a:rPr dirty="0"/>
              <a:t>in</a:t>
            </a:r>
            <a:r>
              <a:rPr spc="180" dirty="0"/>
              <a:t> </a:t>
            </a:r>
            <a:r>
              <a:rPr spc="55" dirty="0"/>
              <a:t>Museums:</a:t>
            </a:r>
            <a:r>
              <a:rPr spc="180" dirty="0"/>
              <a:t> </a:t>
            </a:r>
            <a:r>
              <a:rPr dirty="0"/>
              <a:t>Is</a:t>
            </a:r>
            <a:r>
              <a:rPr spc="185" dirty="0"/>
              <a:t> </a:t>
            </a:r>
            <a:r>
              <a:rPr spc="55" dirty="0"/>
              <a:t>Visitor</a:t>
            </a:r>
            <a:r>
              <a:rPr spc="180" dirty="0"/>
              <a:t> </a:t>
            </a:r>
            <a:r>
              <a:rPr spc="60" dirty="0"/>
              <a:t>Experience</a:t>
            </a:r>
            <a:r>
              <a:rPr spc="185" dirty="0"/>
              <a:t> </a:t>
            </a:r>
            <a:r>
              <a:rPr spc="60" dirty="0"/>
              <a:t>Measured?,”</a:t>
            </a:r>
            <a:r>
              <a:rPr spc="185" dirty="0"/>
              <a:t> </a:t>
            </a:r>
            <a:r>
              <a:rPr spc="55" dirty="0"/>
              <a:t>Czech</a:t>
            </a:r>
            <a:r>
              <a:rPr spc="180" dirty="0"/>
              <a:t> </a:t>
            </a:r>
            <a:r>
              <a:rPr spc="55" dirty="0"/>
              <a:t>Journal</a:t>
            </a:r>
            <a:r>
              <a:rPr spc="180" dirty="0"/>
              <a:t> </a:t>
            </a:r>
            <a:r>
              <a:rPr spc="-25" dirty="0"/>
              <a:t>of </a:t>
            </a:r>
            <a:r>
              <a:rPr dirty="0"/>
              <a:t>Tourism,</a:t>
            </a:r>
            <a:r>
              <a:rPr spc="-30" dirty="0"/>
              <a:t> </a:t>
            </a:r>
            <a:r>
              <a:rPr dirty="0"/>
              <a:t>vol.</a:t>
            </a:r>
            <a:r>
              <a:rPr spc="-25" dirty="0"/>
              <a:t> </a:t>
            </a:r>
            <a:r>
              <a:rPr dirty="0"/>
              <a:t>11,</a:t>
            </a:r>
            <a:r>
              <a:rPr spc="-30" dirty="0"/>
              <a:t> </a:t>
            </a:r>
            <a:r>
              <a:rPr dirty="0"/>
              <a:t>no.</a:t>
            </a:r>
            <a:r>
              <a:rPr spc="-25" dirty="0"/>
              <a:t> </a:t>
            </a:r>
            <a:r>
              <a:rPr dirty="0"/>
              <a:t>1–2,</a:t>
            </a:r>
            <a:r>
              <a:rPr spc="-30" dirty="0"/>
              <a:t> </a:t>
            </a:r>
            <a:r>
              <a:rPr dirty="0"/>
              <a:t>pp.</a:t>
            </a:r>
            <a:r>
              <a:rPr spc="-25" dirty="0"/>
              <a:t> </a:t>
            </a:r>
            <a:r>
              <a:rPr dirty="0"/>
              <a:t>14–31,</a:t>
            </a:r>
            <a:r>
              <a:rPr spc="-30" dirty="0"/>
              <a:t> </a:t>
            </a:r>
            <a:r>
              <a:rPr dirty="0"/>
              <a:t>Dec.</a:t>
            </a:r>
            <a:r>
              <a:rPr spc="-25" dirty="0"/>
              <a:t> </a:t>
            </a:r>
            <a:r>
              <a:rPr spc="-10" dirty="0"/>
              <a:t>2022.</a:t>
            </a:r>
          </a:p>
          <a:p>
            <a:pPr marL="12700" marR="5080" indent="391795" algn="just">
              <a:lnSpc>
                <a:spcPct val="100000"/>
              </a:lnSpc>
              <a:spcBef>
                <a:spcPts val="1920"/>
              </a:spcBef>
              <a:buAutoNum type="arabicPlain"/>
              <a:tabLst>
                <a:tab pos="404495" algn="l"/>
              </a:tabLst>
            </a:pPr>
            <a:r>
              <a:rPr dirty="0"/>
              <a:t>S.</a:t>
            </a:r>
            <a:r>
              <a:rPr spc="80" dirty="0"/>
              <a:t> </a:t>
            </a:r>
            <a:r>
              <a:rPr dirty="0"/>
              <a:t>Pandey,</a:t>
            </a:r>
            <a:r>
              <a:rPr spc="85" dirty="0"/>
              <a:t> </a:t>
            </a:r>
            <a:r>
              <a:rPr dirty="0"/>
              <a:t>A.</a:t>
            </a:r>
            <a:r>
              <a:rPr spc="90" dirty="0"/>
              <a:t> </a:t>
            </a:r>
            <a:r>
              <a:rPr dirty="0"/>
              <a:t>Tripathee,</a:t>
            </a:r>
            <a:r>
              <a:rPr spc="95" dirty="0"/>
              <a:t> </a:t>
            </a:r>
            <a:r>
              <a:rPr dirty="0"/>
              <a:t>J.</a:t>
            </a:r>
            <a:r>
              <a:rPr spc="90" dirty="0"/>
              <a:t> </a:t>
            </a:r>
            <a:r>
              <a:rPr dirty="0"/>
              <a:t>Shankhwar,</a:t>
            </a:r>
            <a:r>
              <a:rPr spc="90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A.</a:t>
            </a:r>
            <a:r>
              <a:rPr spc="90" dirty="0"/>
              <a:t> </a:t>
            </a:r>
            <a:r>
              <a:rPr dirty="0"/>
              <a:t>Rajput,</a:t>
            </a:r>
            <a:r>
              <a:rPr spc="90" dirty="0"/>
              <a:t> </a:t>
            </a:r>
            <a:r>
              <a:rPr dirty="0"/>
              <a:t>“Museum</a:t>
            </a:r>
            <a:r>
              <a:rPr spc="100" dirty="0"/>
              <a:t> </a:t>
            </a:r>
            <a:r>
              <a:rPr dirty="0"/>
              <a:t>Chatbot</a:t>
            </a:r>
            <a:r>
              <a:rPr spc="90" dirty="0"/>
              <a:t> </a:t>
            </a:r>
            <a:r>
              <a:rPr dirty="0"/>
              <a:t>Ticketing</a:t>
            </a:r>
            <a:r>
              <a:rPr spc="95" dirty="0"/>
              <a:t> </a:t>
            </a:r>
            <a:r>
              <a:rPr dirty="0"/>
              <a:t>System:</a:t>
            </a:r>
            <a:r>
              <a:rPr spc="90" dirty="0"/>
              <a:t> </a:t>
            </a:r>
            <a:r>
              <a:rPr spc="-25" dirty="0"/>
              <a:t>An </a:t>
            </a:r>
            <a:r>
              <a:rPr spc="-10" dirty="0"/>
              <a:t>AI-</a:t>
            </a:r>
            <a:r>
              <a:rPr dirty="0"/>
              <a:t>Driven</a:t>
            </a:r>
            <a:r>
              <a:rPr spc="-45" dirty="0"/>
              <a:t> </a:t>
            </a:r>
            <a:r>
              <a:rPr dirty="0"/>
              <a:t>Approach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Enhance</a:t>
            </a:r>
            <a:r>
              <a:rPr spc="-45" dirty="0"/>
              <a:t> </a:t>
            </a:r>
            <a:r>
              <a:rPr dirty="0"/>
              <a:t>Visitor</a:t>
            </a:r>
            <a:r>
              <a:rPr spc="-40" dirty="0"/>
              <a:t> </a:t>
            </a:r>
            <a:r>
              <a:rPr dirty="0"/>
              <a:t>Experience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Operational</a:t>
            </a:r>
            <a:r>
              <a:rPr spc="-45" dirty="0"/>
              <a:t> </a:t>
            </a:r>
            <a:r>
              <a:rPr dirty="0"/>
              <a:t>Efficiency,”</a:t>
            </a:r>
            <a:r>
              <a:rPr spc="-45" dirty="0"/>
              <a:t> </a:t>
            </a:r>
            <a:r>
              <a:rPr dirty="0"/>
              <a:t>International</a:t>
            </a:r>
            <a:r>
              <a:rPr spc="-45" dirty="0"/>
              <a:t> </a:t>
            </a:r>
            <a:r>
              <a:rPr spc="-10" dirty="0"/>
              <a:t>Journal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Creative</a:t>
            </a:r>
            <a:r>
              <a:rPr spc="-25" dirty="0"/>
              <a:t> </a:t>
            </a:r>
            <a:r>
              <a:rPr dirty="0"/>
              <a:t>Research</a:t>
            </a:r>
            <a:r>
              <a:rPr spc="-20" dirty="0"/>
              <a:t> </a:t>
            </a:r>
            <a:r>
              <a:rPr dirty="0"/>
              <a:t>Thoughts,</a:t>
            </a:r>
            <a:r>
              <a:rPr spc="-30" dirty="0"/>
              <a:t> </a:t>
            </a:r>
            <a:r>
              <a:rPr dirty="0"/>
              <a:t>vol.</a:t>
            </a:r>
            <a:r>
              <a:rPr spc="-30" dirty="0"/>
              <a:t> </a:t>
            </a:r>
            <a:r>
              <a:rPr dirty="0"/>
              <a:t>13,</a:t>
            </a:r>
            <a:r>
              <a:rPr spc="-25" dirty="0"/>
              <a:t> </a:t>
            </a:r>
            <a:r>
              <a:rPr dirty="0"/>
              <a:t>no.</a:t>
            </a:r>
            <a:r>
              <a:rPr spc="-30" dirty="0"/>
              <a:t> </a:t>
            </a:r>
            <a:r>
              <a:rPr dirty="0"/>
              <a:t>5,</a:t>
            </a:r>
            <a:r>
              <a:rPr spc="-25" dirty="0"/>
              <a:t> </a:t>
            </a:r>
            <a:r>
              <a:rPr dirty="0"/>
              <a:t>pp.</a:t>
            </a:r>
            <a:r>
              <a:rPr spc="-30" dirty="0"/>
              <a:t> </a:t>
            </a:r>
            <a:r>
              <a:rPr dirty="0"/>
              <a:t>86–*,</a:t>
            </a:r>
            <a:r>
              <a:rPr spc="-30" dirty="0"/>
              <a:t> </a:t>
            </a:r>
            <a:r>
              <a:rPr dirty="0"/>
              <a:t>May</a:t>
            </a:r>
            <a:r>
              <a:rPr spc="-25" dirty="0"/>
              <a:t> </a:t>
            </a:r>
            <a:r>
              <a:rPr spc="-10" dirty="0"/>
              <a:t>2025.</a:t>
            </a:r>
          </a:p>
          <a:p>
            <a:pPr marL="12700" marR="5080" indent="417195" algn="just">
              <a:lnSpc>
                <a:spcPct val="100000"/>
              </a:lnSpc>
              <a:spcBef>
                <a:spcPts val="1920"/>
              </a:spcBef>
              <a:buAutoNum type="arabicPlain"/>
              <a:tabLst>
                <a:tab pos="429895" algn="l"/>
              </a:tabLst>
            </a:pPr>
            <a:r>
              <a:rPr dirty="0"/>
              <a:t>B.</a:t>
            </a:r>
            <a:r>
              <a:rPr spc="200" dirty="0"/>
              <a:t> </a:t>
            </a:r>
            <a:r>
              <a:rPr spc="45" dirty="0"/>
              <a:t>Venkata</a:t>
            </a:r>
            <a:r>
              <a:rPr spc="200" dirty="0"/>
              <a:t> </a:t>
            </a:r>
            <a:r>
              <a:rPr dirty="0"/>
              <a:t>Pavan</a:t>
            </a:r>
            <a:r>
              <a:rPr spc="210" dirty="0"/>
              <a:t> </a:t>
            </a:r>
            <a:r>
              <a:rPr dirty="0"/>
              <a:t>and</a:t>
            </a:r>
            <a:r>
              <a:rPr spc="200" dirty="0"/>
              <a:t> </a:t>
            </a:r>
            <a:r>
              <a:rPr dirty="0"/>
              <a:t>P.</a:t>
            </a:r>
            <a:r>
              <a:rPr spc="204" dirty="0"/>
              <a:t> </a:t>
            </a:r>
            <a:r>
              <a:rPr spc="45" dirty="0"/>
              <a:t>Priyanka,</a:t>
            </a:r>
            <a:r>
              <a:rPr spc="200" dirty="0"/>
              <a:t> </a:t>
            </a:r>
            <a:r>
              <a:rPr spc="50" dirty="0"/>
              <a:t>“Online</a:t>
            </a:r>
            <a:r>
              <a:rPr spc="220" dirty="0"/>
              <a:t> </a:t>
            </a:r>
            <a:r>
              <a:rPr spc="55" dirty="0"/>
              <a:t>Chatbot</a:t>
            </a:r>
            <a:r>
              <a:rPr spc="210" dirty="0"/>
              <a:t> </a:t>
            </a:r>
            <a:r>
              <a:rPr dirty="0"/>
              <a:t>Based</a:t>
            </a:r>
            <a:r>
              <a:rPr spc="215" dirty="0"/>
              <a:t> </a:t>
            </a:r>
            <a:r>
              <a:rPr spc="55" dirty="0"/>
              <a:t>Ticketing</a:t>
            </a:r>
            <a:r>
              <a:rPr spc="215" dirty="0"/>
              <a:t> </a:t>
            </a:r>
            <a:r>
              <a:rPr spc="50" dirty="0"/>
              <a:t>System</a:t>
            </a:r>
            <a:r>
              <a:rPr spc="215" dirty="0"/>
              <a:t> </a:t>
            </a:r>
            <a:r>
              <a:rPr dirty="0"/>
              <a:t>for</a:t>
            </a:r>
            <a:r>
              <a:rPr spc="220" dirty="0"/>
              <a:t> </a:t>
            </a:r>
            <a:r>
              <a:rPr spc="40" dirty="0"/>
              <a:t>Museum,” </a:t>
            </a:r>
            <a:r>
              <a:rPr dirty="0"/>
              <a:t>Zenodo,</a:t>
            </a:r>
            <a:r>
              <a:rPr spc="-35" dirty="0"/>
              <a:t> </a:t>
            </a:r>
            <a:r>
              <a:rPr dirty="0"/>
              <a:t>published</a:t>
            </a:r>
            <a:r>
              <a:rPr spc="-30" dirty="0"/>
              <a:t> </a:t>
            </a:r>
            <a:r>
              <a:rPr dirty="0"/>
              <a:t>28</a:t>
            </a:r>
            <a:r>
              <a:rPr spc="-30" dirty="0"/>
              <a:t> </a:t>
            </a:r>
            <a:r>
              <a:rPr dirty="0"/>
              <a:t>July</a:t>
            </a:r>
            <a:r>
              <a:rPr spc="-35" dirty="0"/>
              <a:t> </a:t>
            </a:r>
            <a:r>
              <a:rPr spc="-10" dirty="0"/>
              <a:t>2025.</a:t>
            </a:r>
          </a:p>
          <a:p>
            <a:pPr marL="12700" marR="5080" indent="404495" algn="just">
              <a:lnSpc>
                <a:spcPct val="100000"/>
              </a:lnSpc>
              <a:spcBef>
                <a:spcPts val="1920"/>
              </a:spcBef>
              <a:buAutoNum type="arabicPlain"/>
              <a:tabLst>
                <a:tab pos="417195" algn="l"/>
              </a:tabLst>
            </a:pPr>
            <a:r>
              <a:rPr dirty="0"/>
              <a:t>M.</a:t>
            </a:r>
            <a:r>
              <a:rPr spc="204" dirty="0"/>
              <a:t> </a:t>
            </a:r>
            <a:r>
              <a:rPr dirty="0"/>
              <a:t>Reddy,</a:t>
            </a:r>
            <a:r>
              <a:rPr spc="204" dirty="0"/>
              <a:t> </a:t>
            </a:r>
            <a:r>
              <a:rPr dirty="0"/>
              <a:t>V.</a:t>
            </a:r>
            <a:r>
              <a:rPr spc="204" dirty="0"/>
              <a:t> </a:t>
            </a:r>
            <a:r>
              <a:rPr dirty="0"/>
              <a:t>Mahammad</a:t>
            </a:r>
            <a:r>
              <a:rPr spc="204" dirty="0"/>
              <a:t> </a:t>
            </a:r>
            <a:r>
              <a:rPr dirty="0"/>
              <a:t>Thouheed,</a:t>
            </a:r>
            <a:r>
              <a:rPr spc="204" dirty="0"/>
              <a:t> </a:t>
            </a:r>
            <a:r>
              <a:rPr dirty="0"/>
              <a:t>I.</a:t>
            </a:r>
            <a:r>
              <a:rPr spc="204" dirty="0"/>
              <a:t> </a:t>
            </a:r>
            <a:r>
              <a:rPr dirty="0"/>
              <a:t>Raza,</a:t>
            </a:r>
            <a:r>
              <a:rPr spc="204" dirty="0"/>
              <a:t> </a:t>
            </a:r>
            <a:r>
              <a:rPr dirty="0"/>
              <a:t>and</a:t>
            </a:r>
            <a:r>
              <a:rPr spc="204" dirty="0"/>
              <a:t> </a:t>
            </a:r>
            <a:r>
              <a:rPr dirty="0"/>
              <a:t>T.</a:t>
            </a:r>
            <a:r>
              <a:rPr spc="204" dirty="0"/>
              <a:t> </a:t>
            </a:r>
            <a:r>
              <a:rPr dirty="0"/>
              <a:t>R.</a:t>
            </a:r>
            <a:r>
              <a:rPr spc="204" dirty="0"/>
              <a:t> </a:t>
            </a:r>
            <a:r>
              <a:rPr dirty="0"/>
              <a:t>Srinivasan,</a:t>
            </a:r>
            <a:r>
              <a:rPr spc="204" dirty="0"/>
              <a:t> </a:t>
            </a:r>
            <a:r>
              <a:rPr dirty="0"/>
              <a:t>“Online</a:t>
            </a:r>
            <a:r>
              <a:rPr spc="210" dirty="0"/>
              <a:t> </a:t>
            </a:r>
            <a:r>
              <a:rPr dirty="0"/>
              <a:t>Chatbot</a:t>
            </a:r>
            <a:r>
              <a:rPr spc="204" dirty="0"/>
              <a:t> </a:t>
            </a:r>
            <a:r>
              <a:rPr spc="-10" dirty="0"/>
              <a:t>Ticketing </a:t>
            </a:r>
            <a:r>
              <a:rPr dirty="0"/>
              <a:t>Based</a:t>
            </a:r>
            <a:r>
              <a:rPr spc="185" dirty="0"/>
              <a:t> </a:t>
            </a:r>
            <a:r>
              <a:rPr dirty="0"/>
              <a:t>System,”</a:t>
            </a:r>
            <a:r>
              <a:rPr spc="190" dirty="0"/>
              <a:t> </a:t>
            </a:r>
            <a:r>
              <a:rPr dirty="0"/>
              <a:t>International</a:t>
            </a:r>
            <a:r>
              <a:rPr spc="185" dirty="0"/>
              <a:t> </a:t>
            </a:r>
            <a:r>
              <a:rPr dirty="0"/>
              <a:t>Journal</a:t>
            </a:r>
            <a:r>
              <a:rPr spc="185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Innovative</a:t>
            </a:r>
            <a:r>
              <a:rPr spc="204" dirty="0"/>
              <a:t> </a:t>
            </a:r>
            <a:r>
              <a:rPr dirty="0"/>
              <a:t>Research</a:t>
            </a:r>
            <a:r>
              <a:rPr spc="204" dirty="0"/>
              <a:t> </a:t>
            </a:r>
            <a:r>
              <a:rPr dirty="0"/>
              <a:t>in</a:t>
            </a:r>
            <a:r>
              <a:rPr spc="200" dirty="0"/>
              <a:t> </a:t>
            </a:r>
            <a:r>
              <a:rPr dirty="0"/>
              <a:t>Technology,</a:t>
            </a:r>
            <a:r>
              <a:rPr spc="200" dirty="0"/>
              <a:t> </a:t>
            </a:r>
            <a:r>
              <a:rPr dirty="0"/>
              <a:t>vol.</a:t>
            </a:r>
            <a:r>
              <a:rPr spc="195" dirty="0"/>
              <a:t> </a:t>
            </a:r>
            <a:r>
              <a:rPr dirty="0"/>
              <a:t>11,</a:t>
            </a:r>
            <a:r>
              <a:rPr spc="200" dirty="0"/>
              <a:t> </a:t>
            </a:r>
            <a:r>
              <a:rPr dirty="0"/>
              <a:t>no.</a:t>
            </a:r>
            <a:r>
              <a:rPr spc="195" dirty="0"/>
              <a:t> </a:t>
            </a:r>
            <a:r>
              <a:rPr dirty="0"/>
              <a:t>12,</a:t>
            </a:r>
            <a:r>
              <a:rPr spc="200" dirty="0"/>
              <a:t> </a:t>
            </a:r>
            <a:r>
              <a:rPr spc="-25" dirty="0"/>
              <a:t>May </a:t>
            </a:r>
            <a:r>
              <a:rPr spc="-10" dirty="0"/>
              <a:t>2025.</a:t>
            </a:r>
          </a:p>
          <a:p>
            <a:pPr marL="12700" marR="5080" indent="389255" algn="just">
              <a:lnSpc>
                <a:spcPct val="100000"/>
              </a:lnSpc>
              <a:spcBef>
                <a:spcPts val="1920"/>
              </a:spcBef>
              <a:buAutoNum type="arabicPlain"/>
              <a:tabLst>
                <a:tab pos="401955" algn="l"/>
              </a:tabLst>
            </a:pPr>
            <a:r>
              <a:rPr dirty="0"/>
              <a:t>R.</a:t>
            </a:r>
            <a:r>
              <a:rPr spc="25" dirty="0"/>
              <a:t> </a:t>
            </a:r>
            <a:r>
              <a:rPr dirty="0"/>
              <a:t>Bediskar,</a:t>
            </a:r>
            <a:r>
              <a:rPr spc="25" dirty="0"/>
              <a:t> </a:t>
            </a:r>
            <a:r>
              <a:rPr dirty="0"/>
              <a:t>P.</a:t>
            </a:r>
            <a:r>
              <a:rPr spc="25" dirty="0"/>
              <a:t> </a:t>
            </a:r>
            <a:r>
              <a:rPr dirty="0"/>
              <a:t>Bagul,</a:t>
            </a:r>
            <a:r>
              <a:rPr spc="30" dirty="0"/>
              <a:t> </a:t>
            </a:r>
            <a:r>
              <a:rPr dirty="0"/>
              <a:t>M.</a:t>
            </a:r>
            <a:r>
              <a:rPr spc="25" dirty="0"/>
              <a:t> </a:t>
            </a:r>
            <a:r>
              <a:rPr dirty="0"/>
              <a:t>Kedar,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P.</a:t>
            </a:r>
            <a:r>
              <a:rPr spc="30" dirty="0"/>
              <a:t> </a:t>
            </a:r>
            <a:r>
              <a:rPr dirty="0"/>
              <a:t>Mandavkar,</a:t>
            </a:r>
            <a:r>
              <a:rPr spc="25" dirty="0"/>
              <a:t> </a:t>
            </a:r>
            <a:r>
              <a:rPr dirty="0"/>
              <a:t>“Online</a:t>
            </a:r>
            <a:r>
              <a:rPr spc="30" dirty="0"/>
              <a:t> </a:t>
            </a:r>
            <a:r>
              <a:rPr dirty="0"/>
              <a:t>Chatbot</a:t>
            </a:r>
            <a:r>
              <a:rPr spc="25" dirty="0"/>
              <a:t> </a:t>
            </a:r>
            <a:r>
              <a:rPr dirty="0"/>
              <a:t>Based</a:t>
            </a:r>
            <a:r>
              <a:rPr spc="30" dirty="0"/>
              <a:t> </a:t>
            </a:r>
            <a:r>
              <a:rPr dirty="0"/>
              <a:t>Ticketing</a:t>
            </a:r>
            <a:r>
              <a:rPr spc="25" dirty="0"/>
              <a:t> </a:t>
            </a:r>
            <a:r>
              <a:rPr dirty="0"/>
              <a:t>System</a:t>
            </a:r>
            <a:r>
              <a:rPr spc="40" dirty="0"/>
              <a:t> </a:t>
            </a:r>
            <a:r>
              <a:rPr spc="-25" dirty="0"/>
              <a:t>for </a:t>
            </a:r>
            <a:r>
              <a:rPr dirty="0"/>
              <a:t>Museum,”</a:t>
            </a:r>
            <a:r>
              <a:rPr spc="-55" dirty="0"/>
              <a:t> </a:t>
            </a:r>
            <a:r>
              <a:rPr dirty="0"/>
              <a:t>IJSREM</a:t>
            </a:r>
            <a:r>
              <a:rPr spc="-50" dirty="0"/>
              <a:t> </a:t>
            </a:r>
            <a:r>
              <a:rPr dirty="0"/>
              <a:t>Journal,</a:t>
            </a:r>
            <a:r>
              <a:rPr spc="-55" dirty="0"/>
              <a:t> </a:t>
            </a:r>
            <a:r>
              <a:rPr dirty="0"/>
              <a:t>published</a:t>
            </a:r>
            <a:r>
              <a:rPr spc="-55" dirty="0"/>
              <a:t> </a:t>
            </a:r>
            <a:r>
              <a:rPr spc="-10" dirty="0"/>
              <a:t>2025.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References</a:t>
            </a:r>
            <a:r>
              <a:rPr spc="-60" dirty="0"/>
              <a:t> </a:t>
            </a:r>
            <a:r>
              <a:rPr dirty="0"/>
              <a:t>(IEEE</a:t>
            </a:r>
            <a:r>
              <a:rPr spc="-60" dirty="0"/>
              <a:t> </a:t>
            </a:r>
            <a:r>
              <a:rPr dirty="0"/>
              <a:t>Paper</a:t>
            </a:r>
            <a:r>
              <a:rPr spc="-6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99415" algn="just">
              <a:lnSpc>
                <a:spcPct val="100000"/>
              </a:lnSpc>
              <a:spcBef>
                <a:spcPts val="95"/>
              </a:spcBef>
              <a:buAutoNum type="arabicPlain" startAt="6"/>
              <a:tabLst>
                <a:tab pos="412115" algn="l"/>
              </a:tabLst>
            </a:pPr>
            <a:r>
              <a:rPr dirty="0"/>
              <a:t>S.</a:t>
            </a:r>
            <a:r>
              <a:rPr spc="155" dirty="0"/>
              <a:t> </a:t>
            </a:r>
            <a:r>
              <a:rPr dirty="0"/>
              <a:t>Beeban</a:t>
            </a:r>
            <a:r>
              <a:rPr spc="165" dirty="0"/>
              <a:t> </a:t>
            </a:r>
            <a:r>
              <a:rPr dirty="0"/>
              <a:t>Basha</a:t>
            </a:r>
            <a:r>
              <a:rPr spc="160" dirty="0"/>
              <a:t> </a:t>
            </a:r>
            <a:r>
              <a:rPr dirty="0"/>
              <a:t>and</a:t>
            </a:r>
            <a:r>
              <a:rPr spc="155" dirty="0"/>
              <a:t> </a:t>
            </a:r>
            <a:r>
              <a:rPr dirty="0"/>
              <a:t>K.</a:t>
            </a:r>
            <a:r>
              <a:rPr spc="160" dirty="0"/>
              <a:t> </a:t>
            </a:r>
            <a:r>
              <a:rPr dirty="0"/>
              <a:t>Mohana</a:t>
            </a:r>
            <a:r>
              <a:rPr spc="160" dirty="0"/>
              <a:t> </a:t>
            </a:r>
            <a:r>
              <a:rPr dirty="0"/>
              <a:t>Priya,</a:t>
            </a:r>
            <a:r>
              <a:rPr spc="155" dirty="0"/>
              <a:t> </a:t>
            </a:r>
            <a:r>
              <a:rPr dirty="0"/>
              <a:t>“Online</a:t>
            </a:r>
            <a:r>
              <a:rPr spc="180" dirty="0"/>
              <a:t> </a:t>
            </a:r>
            <a:r>
              <a:rPr dirty="0"/>
              <a:t>Chatbot</a:t>
            </a:r>
            <a:r>
              <a:rPr spc="170" dirty="0"/>
              <a:t> </a:t>
            </a:r>
            <a:r>
              <a:rPr dirty="0"/>
              <a:t>Based</a:t>
            </a:r>
            <a:r>
              <a:rPr spc="170" dirty="0"/>
              <a:t> </a:t>
            </a:r>
            <a:r>
              <a:rPr dirty="0"/>
              <a:t>Ticketing</a:t>
            </a:r>
            <a:r>
              <a:rPr spc="170" dirty="0"/>
              <a:t> </a:t>
            </a:r>
            <a:r>
              <a:rPr dirty="0"/>
              <a:t>System</a:t>
            </a:r>
            <a:r>
              <a:rPr spc="175" dirty="0"/>
              <a:t> </a:t>
            </a:r>
            <a:r>
              <a:rPr dirty="0"/>
              <a:t>for</a:t>
            </a:r>
            <a:r>
              <a:rPr spc="175" dirty="0"/>
              <a:t> </a:t>
            </a:r>
            <a:r>
              <a:rPr spc="-10" dirty="0"/>
              <a:t>Museums </a:t>
            </a: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Machine</a:t>
            </a:r>
            <a:r>
              <a:rPr spc="-30" dirty="0"/>
              <a:t> </a:t>
            </a:r>
            <a:r>
              <a:rPr dirty="0"/>
              <a:t>Learning,”</a:t>
            </a:r>
            <a:r>
              <a:rPr spc="-30" dirty="0"/>
              <a:t> </a:t>
            </a:r>
            <a:r>
              <a:rPr dirty="0"/>
              <a:t>Computer</a:t>
            </a:r>
            <a:r>
              <a:rPr spc="-30" dirty="0"/>
              <a:t> </a:t>
            </a:r>
            <a:r>
              <a:rPr dirty="0"/>
              <a:t>Science</a:t>
            </a:r>
            <a:r>
              <a:rPr spc="-30" dirty="0"/>
              <a:t> </a:t>
            </a:r>
            <a:r>
              <a:rPr dirty="0"/>
              <a:t>Journal,</a:t>
            </a:r>
            <a:r>
              <a:rPr spc="-30" dirty="0"/>
              <a:t> </a:t>
            </a:r>
            <a:r>
              <a:rPr dirty="0"/>
              <a:t>vol.</a:t>
            </a:r>
            <a:r>
              <a:rPr spc="-35" dirty="0"/>
              <a:t> </a:t>
            </a:r>
            <a:r>
              <a:rPr dirty="0"/>
              <a:t>18,</a:t>
            </a:r>
            <a:r>
              <a:rPr spc="-35" dirty="0"/>
              <a:t> </a:t>
            </a:r>
            <a:r>
              <a:rPr dirty="0"/>
              <a:t>no.</a:t>
            </a:r>
            <a:r>
              <a:rPr spc="-35" dirty="0"/>
              <a:t> </a:t>
            </a:r>
            <a:r>
              <a:rPr dirty="0"/>
              <a:t>3,</a:t>
            </a:r>
            <a:r>
              <a:rPr spc="-35" dirty="0"/>
              <a:t> </a:t>
            </a:r>
            <a:r>
              <a:rPr spc="-10" dirty="0"/>
              <a:t>2025.</a:t>
            </a:r>
          </a:p>
          <a:p>
            <a:pPr marL="12700" marR="5080" indent="391795" algn="just">
              <a:lnSpc>
                <a:spcPct val="100000"/>
              </a:lnSpc>
              <a:spcBef>
                <a:spcPts val="1920"/>
              </a:spcBef>
              <a:buAutoNum type="arabicPlain" startAt="6"/>
              <a:tabLst>
                <a:tab pos="404495" algn="l"/>
              </a:tabLst>
            </a:pPr>
            <a:r>
              <a:rPr dirty="0"/>
              <a:t>S.</a:t>
            </a:r>
            <a:r>
              <a:rPr spc="80" dirty="0"/>
              <a:t> </a:t>
            </a:r>
            <a:r>
              <a:rPr dirty="0"/>
              <a:t>Pandey,</a:t>
            </a:r>
            <a:r>
              <a:rPr spc="85" dirty="0"/>
              <a:t> </a:t>
            </a:r>
            <a:r>
              <a:rPr dirty="0"/>
              <a:t>A.</a:t>
            </a:r>
            <a:r>
              <a:rPr spc="90" dirty="0"/>
              <a:t> </a:t>
            </a:r>
            <a:r>
              <a:rPr dirty="0"/>
              <a:t>Tripathee,</a:t>
            </a:r>
            <a:r>
              <a:rPr spc="95" dirty="0"/>
              <a:t> </a:t>
            </a:r>
            <a:r>
              <a:rPr dirty="0"/>
              <a:t>J.</a:t>
            </a:r>
            <a:r>
              <a:rPr spc="90" dirty="0"/>
              <a:t> </a:t>
            </a:r>
            <a:r>
              <a:rPr dirty="0"/>
              <a:t>Shankhwar,</a:t>
            </a:r>
            <a:r>
              <a:rPr spc="90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A.</a:t>
            </a:r>
            <a:r>
              <a:rPr spc="90" dirty="0"/>
              <a:t> </a:t>
            </a:r>
            <a:r>
              <a:rPr dirty="0"/>
              <a:t>Rajput,</a:t>
            </a:r>
            <a:r>
              <a:rPr spc="90" dirty="0"/>
              <a:t> </a:t>
            </a:r>
            <a:r>
              <a:rPr dirty="0"/>
              <a:t>“Museum</a:t>
            </a:r>
            <a:r>
              <a:rPr spc="100" dirty="0"/>
              <a:t> </a:t>
            </a:r>
            <a:r>
              <a:rPr dirty="0"/>
              <a:t>Chatbot</a:t>
            </a:r>
            <a:r>
              <a:rPr spc="90" dirty="0"/>
              <a:t> </a:t>
            </a:r>
            <a:r>
              <a:rPr dirty="0"/>
              <a:t>Ticketing</a:t>
            </a:r>
            <a:r>
              <a:rPr spc="95" dirty="0"/>
              <a:t> </a:t>
            </a:r>
            <a:r>
              <a:rPr dirty="0"/>
              <a:t>System:</a:t>
            </a:r>
            <a:r>
              <a:rPr spc="90" dirty="0"/>
              <a:t> </a:t>
            </a:r>
            <a:r>
              <a:rPr spc="-25" dirty="0"/>
              <a:t>An </a:t>
            </a:r>
            <a:r>
              <a:rPr spc="-10" dirty="0"/>
              <a:t>AI-</a:t>
            </a:r>
            <a:r>
              <a:rPr dirty="0"/>
              <a:t>Driven</a:t>
            </a:r>
            <a:r>
              <a:rPr spc="20" dirty="0"/>
              <a:t> </a:t>
            </a:r>
            <a:r>
              <a:rPr dirty="0"/>
              <a:t>Approach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Enhance</a:t>
            </a:r>
            <a:r>
              <a:rPr spc="20" dirty="0"/>
              <a:t> </a:t>
            </a:r>
            <a:r>
              <a:rPr dirty="0"/>
              <a:t>Visitor</a:t>
            </a:r>
            <a:r>
              <a:rPr spc="20" dirty="0"/>
              <a:t> </a:t>
            </a:r>
            <a:r>
              <a:rPr dirty="0"/>
              <a:t>Experience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Operational</a:t>
            </a:r>
            <a:r>
              <a:rPr spc="25" dirty="0"/>
              <a:t> </a:t>
            </a:r>
            <a:r>
              <a:rPr dirty="0"/>
              <a:t>Efficiency,”</a:t>
            </a:r>
            <a:r>
              <a:rPr spc="30" dirty="0"/>
              <a:t> </a:t>
            </a:r>
            <a:r>
              <a:rPr dirty="0"/>
              <a:t>International</a:t>
            </a:r>
            <a:r>
              <a:rPr spc="25" dirty="0"/>
              <a:t> </a:t>
            </a:r>
            <a:r>
              <a:rPr spc="-10" dirty="0"/>
              <a:t>Journal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Creative</a:t>
            </a:r>
            <a:r>
              <a:rPr spc="-25" dirty="0"/>
              <a:t> </a:t>
            </a:r>
            <a:r>
              <a:rPr dirty="0"/>
              <a:t>Research</a:t>
            </a:r>
            <a:r>
              <a:rPr spc="-25" dirty="0"/>
              <a:t> </a:t>
            </a:r>
            <a:r>
              <a:rPr dirty="0"/>
              <a:t>Thoughts</a:t>
            </a:r>
            <a:r>
              <a:rPr spc="-25" dirty="0"/>
              <a:t> </a:t>
            </a:r>
            <a:r>
              <a:rPr dirty="0"/>
              <a:t>(IJCRT),</a:t>
            </a:r>
            <a:r>
              <a:rPr spc="-30" dirty="0"/>
              <a:t> </a:t>
            </a:r>
            <a:r>
              <a:rPr dirty="0"/>
              <a:t>vol.</a:t>
            </a:r>
            <a:r>
              <a:rPr spc="-30" dirty="0"/>
              <a:t> </a:t>
            </a:r>
            <a:r>
              <a:rPr dirty="0"/>
              <a:t>13,</a:t>
            </a:r>
            <a:r>
              <a:rPr spc="-25" dirty="0"/>
              <a:t> </a:t>
            </a:r>
            <a:r>
              <a:rPr dirty="0"/>
              <a:t>no.</a:t>
            </a:r>
            <a:r>
              <a:rPr spc="-30" dirty="0"/>
              <a:t> </a:t>
            </a:r>
            <a:r>
              <a:rPr dirty="0"/>
              <a:t>5,</a:t>
            </a:r>
            <a:r>
              <a:rPr spc="-30" dirty="0"/>
              <a:t> </a:t>
            </a:r>
            <a:r>
              <a:rPr dirty="0"/>
              <a:t>pp.</a:t>
            </a:r>
            <a:r>
              <a:rPr spc="-30" dirty="0"/>
              <a:t> </a:t>
            </a:r>
            <a:r>
              <a:rPr dirty="0"/>
              <a:t>86–88,</a:t>
            </a:r>
            <a:r>
              <a:rPr spc="-30" dirty="0"/>
              <a:t> </a:t>
            </a:r>
            <a:r>
              <a:rPr dirty="0"/>
              <a:t>May</a:t>
            </a:r>
            <a:r>
              <a:rPr spc="-30" dirty="0"/>
              <a:t> </a:t>
            </a:r>
            <a:r>
              <a:rPr spc="-10" dirty="0"/>
              <a:t>2025.</a:t>
            </a:r>
          </a:p>
          <a:p>
            <a:pPr marL="12700" marR="19050" indent="384175" algn="just">
              <a:lnSpc>
                <a:spcPct val="100000"/>
              </a:lnSpc>
              <a:spcBef>
                <a:spcPts val="1920"/>
              </a:spcBef>
              <a:buAutoNum type="arabicPlain" startAt="6"/>
              <a:tabLst>
                <a:tab pos="396875" algn="l"/>
              </a:tabLst>
            </a:pPr>
            <a:r>
              <a:rPr dirty="0"/>
              <a:t>“ONLINE</a:t>
            </a:r>
            <a:r>
              <a:rPr spc="-60" dirty="0"/>
              <a:t> </a:t>
            </a:r>
            <a:r>
              <a:rPr dirty="0"/>
              <a:t>CHATBOT</a:t>
            </a:r>
            <a:r>
              <a:rPr spc="-60" dirty="0"/>
              <a:t> </a:t>
            </a:r>
            <a:r>
              <a:rPr dirty="0"/>
              <a:t>BASED</a:t>
            </a:r>
            <a:r>
              <a:rPr spc="-55" dirty="0"/>
              <a:t> </a:t>
            </a:r>
            <a:r>
              <a:rPr dirty="0"/>
              <a:t>TICKETING</a:t>
            </a:r>
            <a:r>
              <a:rPr spc="-55" dirty="0"/>
              <a:t> </a:t>
            </a:r>
            <a:r>
              <a:rPr dirty="0"/>
              <a:t>SYSTEM</a:t>
            </a:r>
            <a:r>
              <a:rPr spc="-5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MUSEUM,”</a:t>
            </a:r>
            <a:r>
              <a:rPr spc="-55" dirty="0"/>
              <a:t> </a:t>
            </a:r>
            <a:r>
              <a:rPr dirty="0"/>
              <a:t>International</a:t>
            </a:r>
            <a:r>
              <a:rPr spc="-60" dirty="0"/>
              <a:t> </a:t>
            </a:r>
            <a:r>
              <a:rPr dirty="0"/>
              <a:t>Research</a:t>
            </a:r>
            <a:r>
              <a:rPr spc="-55" dirty="0"/>
              <a:t> </a:t>
            </a:r>
            <a:r>
              <a:rPr dirty="0"/>
              <a:t>Journal</a:t>
            </a:r>
            <a:r>
              <a:rPr spc="-55" dirty="0"/>
              <a:t> </a:t>
            </a:r>
            <a:r>
              <a:rPr spc="-25" dirty="0"/>
              <a:t>of </a:t>
            </a:r>
            <a:r>
              <a:rPr dirty="0"/>
              <a:t>Modernization</a:t>
            </a:r>
            <a:r>
              <a:rPr spc="-3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Engineering</a:t>
            </a:r>
            <a:r>
              <a:rPr spc="-35" dirty="0"/>
              <a:t> </a:t>
            </a:r>
            <a:r>
              <a:rPr dirty="0"/>
              <a:t>Technology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Science,</a:t>
            </a:r>
            <a:r>
              <a:rPr spc="-35" dirty="0"/>
              <a:t> </a:t>
            </a:r>
            <a:r>
              <a:rPr dirty="0"/>
              <a:t>vol.</a:t>
            </a:r>
            <a:r>
              <a:rPr spc="-35" dirty="0"/>
              <a:t> </a:t>
            </a:r>
            <a:r>
              <a:rPr dirty="0"/>
              <a:t>7,</a:t>
            </a:r>
            <a:r>
              <a:rPr spc="-35" dirty="0"/>
              <a:t> </a:t>
            </a:r>
            <a:r>
              <a:rPr dirty="0"/>
              <a:t>no.</a:t>
            </a:r>
            <a:r>
              <a:rPr spc="-35" dirty="0"/>
              <a:t> </a:t>
            </a:r>
            <a:r>
              <a:rPr dirty="0"/>
              <a:t>3,</a:t>
            </a:r>
            <a:r>
              <a:rPr spc="-35" dirty="0"/>
              <a:t> </a:t>
            </a:r>
            <a:r>
              <a:rPr dirty="0"/>
              <a:t>Mar.</a:t>
            </a:r>
            <a:r>
              <a:rPr spc="-35" dirty="0"/>
              <a:t> </a:t>
            </a:r>
            <a:r>
              <a:rPr spc="-10" dirty="0"/>
              <a:t>2025.</a:t>
            </a:r>
          </a:p>
          <a:p>
            <a:pPr marL="396875" indent="-384175" algn="just">
              <a:lnSpc>
                <a:spcPct val="100000"/>
              </a:lnSpc>
              <a:spcBef>
                <a:spcPts val="1920"/>
              </a:spcBef>
              <a:buAutoNum type="arabicPlain" startAt="6"/>
              <a:tabLst>
                <a:tab pos="396875" algn="l"/>
              </a:tabLst>
            </a:pPr>
            <a:r>
              <a:rPr dirty="0"/>
              <a:t>“MUSEAME:</a:t>
            </a:r>
            <a:r>
              <a:rPr spc="-70" dirty="0"/>
              <a:t> </a:t>
            </a:r>
            <a:r>
              <a:rPr spc="-10" dirty="0"/>
              <a:t>AI-</a:t>
            </a:r>
            <a:r>
              <a:rPr dirty="0"/>
              <a:t>POWERED</a:t>
            </a:r>
            <a:r>
              <a:rPr spc="-60" dirty="0"/>
              <a:t> </a:t>
            </a:r>
            <a:r>
              <a:rPr dirty="0"/>
              <a:t>SMART</a:t>
            </a:r>
            <a:r>
              <a:rPr spc="-70" dirty="0"/>
              <a:t> </a:t>
            </a:r>
            <a:r>
              <a:rPr dirty="0"/>
              <a:t>MUSEUM</a:t>
            </a:r>
            <a:r>
              <a:rPr spc="-60" dirty="0"/>
              <a:t> </a:t>
            </a:r>
            <a:r>
              <a:rPr dirty="0"/>
              <a:t>TICKETING</a:t>
            </a:r>
            <a:r>
              <a:rPr spc="-65" dirty="0"/>
              <a:t> </a:t>
            </a:r>
            <a:r>
              <a:rPr dirty="0"/>
              <a:t>SYSTEM,”</a:t>
            </a:r>
            <a:r>
              <a:rPr spc="-65" dirty="0"/>
              <a:t> </a:t>
            </a:r>
            <a:r>
              <a:rPr dirty="0"/>
              <a:t>IRJMETS,</a:t>
            </a:r>
            <a:r>
              <a:rPr spc="-65" dirty="0"/>
              <a:t> </a:t>
            </a:r>
            <a:r>
              <a:rPr dirty="0"/>
              <a:t>Mar.</a:t>
            </a:r>
            <a:r>
              <a:rPr spc="-65" dirty="0"/>
              <a:t> </a:t>
            </a:r>
            <a:r>
              <a:rPr spc="-10" dirty="0"/>
              <a:t>2025.</a:t>
            </a:r>
          </a:p>
          <a:p>
            <a:pPr marL="12700" marR="5080" indent="566420" algn="just">
              <a:lnSpc>
                <a:spcPct val="100000"/>
              </a:lnSpc>
              <a:spcBef>
                <a:spcPts val="1920"/>
              </a:spcBef>
              <a:buAutoNum type="arabicPlain" startAt="6"/>
              <a:tabLst>
                <a:tab pos="579120" algn="l"/>
              </a:tabLst>
            </a:pPr>
            <a:r>
              <a:rPr dirty="0"/>
              <a:t>M.</a:t>
            </a:r>
            <a:r>
              <a:rPr spc="195" dirty="0"/>
              <a:t> </a:t>
            </a:r>
            <a:r>
              <a:rPr spc="65" dirty="0"/>
              <a:t>Mathias</a:t>
            </a:r>
            <a:r>
              <a:rPr spc="204" dirty="0"/>
              <a:t> </a:t>
            </a:r>
            <a:r>
              <a:rPr dirty="0"/>
              <a:t>et</a:t>
            </a:r>
            <a:r>
              <a:rPr spc="200" dirty="0"/>
              <a:t> </a:t>
            </a:r>
            <a:r>
              <a:rPr spc="50" dirty="0"/>
              <a:t>al.,</a:t>
            </a:r>
            <a:r>
              <a:rPr spc="200" dirty="0"/>
              <a:t> </a:t>
            </a:r>
            <a:r>
              <a:rPr spc="70" dirty="0"/>
              <a:t>“Optimisation</a:t>
            </a:r>
            <a:r>
              <a:rPr spc="204" dirty="0"/>
              <a:t> </a:t>
            </a:r>
            <a:r>
              <a:rPr spc="60" dirty="0"/>
              <a:t>using</a:t>
            </a:r>
            <a:r>
              <a:rPr spc="200" dirty="0"/>
              <a:t> </a:t>
            </a:r>
            <a:r>
              <a:rPr spc="65" dirty="0"/>
              <a:t>Natural</a:t>
            </a:r>
            <a:r>
              <a:rPr spc="200" dirty="0"/>
              <a:t> </a:t>
            </a:r>
            <a:r>
              <a:rPr spc="65" dirty="0"/>
              <a:t>Language</a:t>
            </a:r>
            <a:r>
              <a:rPr spc="204" dirty="0"/>
              <a:t> </a:t>
            </a:r>
            <a:r>
              <a:rPr spc="70" dirty="0"/>
              <a:t>Processing:</a:t>
            </a:r>
            <a:r>
              <a:rPr spc="200" dirty="0"/>
              <a:t> </a:t>
            </a:r>
            <a:r>
              <a:rPr spc="70" dirty="0"/>
              <a:t>Personalized</a:t>
            </a:r>
            <a:r>
              <a:rPr spc="200" dirty="0"/>
              <a:t> </a:t>
            </a:r>
            <a:r>
              <a:rPr spc="35" dirty="0"/>
              <a:t>Tour </a:t>
            </a:r>
            <a:r>
              <a:rPr dirty="0"/>
              <a:t>Recommendation</a:t>
            </a:r>
            <a:r>
              <a:rPr spc="-4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Museums,”</a:t>
            </a:r>
            <a:r>
              <a:rPr spc="-40" dirty="0"/>
              <a:t> </a:t>
            </a:r>
            <a:r>
              <a:rPr dirty="0"/>
              <a:t>arXiv,</a:t>
            </a:r>
            <a:r>
              <a:rPr spc="-50" dirty="0"/>
              <a:t> </a:t>
            </a:r>
            <a:r>
              <a:rPr dirty="0"/>
              <a:t>Jan.</a:t>
            </a:r>
            <a:r>
              <a:rPr spc="-45" dirty="0"/>
              <a:t> </a:t>
            </a:r>
            <a:r>
              <a:rPr dirty="0"/>
              <a:t>6</a:t>
            </a:r>
            <a:r>
              <a:rPr spc="-45" dirty="0"/>
              <a:t> </a:t>
            </a:r>
            <a:r>
              <a:rPr spc="-10" dirty="0"/>
              <a:t>2015.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1219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 MT</vt:lpstr>
      <vt:lpstr>Cambria</vt:lpstr>
      <vt:lpstr>Verdana</vt:lpstr>
      <vt:lpstr>Office Theme</vt:lpstr>
      <vt:lpstr>CSE7101- Capstone Project Review-1</vt:lpstr>
      <vt:lpstr>Content</vt:lpstr>
      <vt:lpstr>Problem Statement :</vt:lpstr>
      <vt:lpstr>Objectives :</vt:lpstr>
      <vt:lpstr>Objectives :</vt:lpstr>
      <vt:lpstr>Background and Related work for title Selection: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Github Link</vt:lpstr>
      <vt:lpstr>Timeline of the Project (Gantt Chart)</vt:lpstr>
      <vt:lpstr>References (IEEE Paper format)</vt:lpstr>
      <vt:lpstr>References (IEEE Paper format)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description/>
  <cp:lastModifiedBy>MOHAMED ASLAM PASHA</cp:lastModifiedBy>
  <cp:revision>1</cp:revision>
  <dcterms:created xsi:type="dcterms:W3CDTF">2025-08-10T14:24:47Z</dcterms:created>
  <dcterms:modified xsi:type="dcterms:W3CDTF">2025-12-01T13:34:15Z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