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3"/>
  </p:notesMasterIdLst>
  <p:sldIdLst>
    <p:sldId id="256" r:id="rId2"/>
    <p:sldId id="257" r:id="rId3"/>
    <p:sldId id="269" r:id="rId4"/>
    <p:sldId id="276" r:id="rId5"/>
    <p:sldId id="282" r:id="rId6"/>
    <p:sldId id="291" r:id="rId7"/>
    <p:sldId id="301" r:id="rId8"/>
    <p:sldId id="303" r:id="rId9"/>
    <p:sldId id="304" r:id="rId10"/>
    <p:sldId id="285" r:id="rId11"/>
    <p:sldId id="295" r:id="rId12"/>
    <p:sldId id="296" r:id="rId13"/>
    <p:sldId id="297" r:id="rId14"/>
    <p:sldId id="298" r:id="rId15"/>
    <p:sldId id="299" r:id="rId16"/>
    <p:sldId id="293" r:id="rId17"/>
    <p:sldId id="268" r:id="rId18"/>
    <p:sldId id="270" r:id="rId19"/>
    <p:sldId id="265" r:id="rId20"/>
    <p:sldId id="286"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ISE-45/PSCS-481-Online-Chatbot-Based-Ticketing-System.gi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TCI.2017.303417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GB" sz="2400" dirty="0">
                <a:solidFill>
                  <a:schemeClr val="tx1"/>
                </a:solidFill>
                <a:latin typeface="Cambria" panose="02040503050406030204" pitchFamily="18" charset="0"/>
                <a:ea typeface="Cambria" panose="02040503050406030204" pitchFamily="18" charset="0"/>
              </a:rPr>
              <a:t>PSCS-481 Online Chatbot Based Ticketing System</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ISE 45</a:t>
            </a:r>
          </a:p>
        </p:txBody>
      </p:sp>
      <p:sp>
        <p:nvSpPr>
          <p:cNvPr id="90" name="Google Shape;90;p13"/>
          <p:cNvSpPr txBox="1"/>
          <p:nvPr/>
        </p:nvSpPr>
        <p:spPr>
          <a:xfrm>
            <a:off x="6480175" y="2721610"/>
            <a:ext cx="5514340" cy="181229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a:t>
            </a:r>
            <a:r>
              <a:rPr lang="en-IN" alt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Smitha S P</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cs typeface="Cambria" panose="02040503050406030204" pitchFamily="18" charset="0"/>
                        </a:rPr>
                        <a:t>20221ISE0053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Mohamed Aslam Pasha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Kovuri Nizamuddin</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Vaseem B M</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3</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Dr.Zafar</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Ali Khan</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Suma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a:t>
            </a:r>
            <a:r>
              <a:rPr lang="en-IN" altLang="en-GB" dirty="0">
                <a:latin typeface="Cambria" panose="02040503050406030204" pitchFamily="18" charset="0"/>
                <a:ea typeface="Cambria" panose="02040503050406030204" pitchFamily="18" charset="0"/>
              </a:rPr>
              <a:t>ONTENT</a:t>
            </a:r>
          </a:p>
        </p:txBody>
      </p:sp>
      <p:sp>
        <p:nvSpPr>
          <p:cNvPr id="97" name="Google Shape;97;p14"/>
          <p:cNvSpPr txBox="1">
            <a:spLocks noGrp="1"/>
          </p:cNvSpPr>
          <p:nvPr>
            <p:ph type="body" idx="1"/>
          </p:nvPr>
        </p:nvSpPr>
        <p:spPr>
          <a:xfrm>
            <a:off x="655782" y="112845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IN" altLang="en-US" sz="18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800" dirty="0" err="1">
                <a:latin typeface="Cambria" panose="02040503050406030204" pitchFamily="18" charset="0"/>
                <a:ea typeface="Cambria" panose="02040503050406030204" pitchFamily="18" charset="0"/>
              </a:rPr>
              <a:t>Git</a:t>
            </a:r>
            <a:r>
              <a:rPr lang="en-US" sz="1800"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ABSTRACT:</a:t>
            </a:r>
          </a:p>
        </p:txBody>
      </p:sp>
      <p:sp>
        <p:nvSpPr>
          <p:cNvPr id="97" name="Google Shape;97;p14"/>
          <p:cNvSpPr txBox="1">
            <a:spLocks noGrp="1"/>
          </p:cNvSpPr>
          <p:nvPr>
            <p:ph type="body" idx="1"/>
          </p:nvPr>
        </p:nvSpPr>
        <p:spPr>
          <a:xfrm>
            <a:off x="325315" y="1143000"/>
            <a:ext cx="11155484" cy="4953000"/>
          </a:xfrm>
          <a:prstGeom prst="rect">
            <a:avLst/>
          </a:prstGeom>
          <a:noFill/>
          <a:ln>
            <a:noFill/>
          </a:ln>
        </p:spPr>
        <p:txBody>
          <a:bodyPr spcFirstLastPara="1" wrap="square" lIns="91425" tIns="45700" rIns="91425" bIns="45700" anchor="t" anchorCtr="0">
            <a:normAutofit fontScale="97500"/>
          </a:bodyPr>
          <a:lstStyle/>
          <a:p>
            <a:pPr marL="342900" lvl="0" indent="0" algn="just">
              <a:spcBef>
                <a:spcPts val="0"/>
              </a:spcBef>
              <a:buNone/>
            </a:pPr>
            <a:r>
              <a:rPr lang="en-US" altLang="en-US" sz="2000" dirty="0">
                <a:latin typeface="Cambria" panose="02040503050406030204" pitchFamily="18" charset="0"/>
                <a:ea typeface="Cambria" panose="02040503050406030204" pitchFamily="18" charset="0"/>
              </a:rPr>
              <a:t>The aim of this project “AI-Powered Chatbot Based Ticketing System for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Museums” is to design an intelligent, automated platform that simplifies the ticket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booking process for museums and cultural institutions. By leveraging Natural</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Language Processing (NLP) and conversational AI, the system enables visitors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interact with a chatbot in natural language, making reservations, purchasing tickets,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and receiving exhibition information in real time. The platform is designed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eliminate long queues, reduce manual errors, and provide a seamless visitor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experience through a multilingual, user-friendly interface.</a:t>
            </a:r>
          </a:p>
          <a:p>
            <a:pPr marL="342900" lvl="0" indent="-190500" algn="just">
              <a:spcBef>
                <a:spcPts val="0"/>
              </a:spcBef>
              <a:buNone/>
            </a:pPr>
            <a:endParaRPr lang="en-US" altLang="en-US" sz="20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2000" dirty="0">
                <a:latin typeface="Cambria" panose="02040503050406030204" pitchFamily="18" charset="0"/>
                <a:ea typeface="Cambria" panose="02040503050406030204" pitchFamily="18" charset="0"/>
              </a:rPr>
              <a:t>Despite its simplicity, the system ensures accuracy, speed, and reliability. The chatbot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interface has been developed with inclusivity in mind, catering to diverse audiences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with varying levels of digital literacy. It supports multilingual communication,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ensuring accessibility for both local visitors and international tourists. Furthermore,</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the platform integrates secure payment gateways to facilitate safe and contactless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transactions, while providing museum administrators with real-time analytics 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visitor traffic, ticket sales, and event participation. </a:t>
            </a:r>
          </a:p>
          <a:p>
            <a:pPr marL="342900" lvl="0" indent="0" algn="just">
              <a:spcBef>
                <a:spcPts val="0"/>
              </a:spcBef>
              <a:buNone/>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1 Automating Ticket Booking</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primary objective of this project is to automate the ticket booking process in museums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through an AI-powered chatbot. The system will enable users to book entry tickets,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exhibition passes, and event reservations seamlessly, eliminating the inefficiencies of</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manual ticketing.</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2 User-Friendly Multilingual Interface</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sym typeface="+mn-ea"/>
              </a:rPr>
              <a:t>The chatbot will provide a simple and intuitive interface, accessible across web, mobile, and</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kiosks. It will support multiple languages to cater to both local and international visitors,</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ensuring inclusivity and ease of use for diverse audiences.</a:t>
            </a: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3 AI-Powered Visitor Interaction</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Using Natural Language Processing (NLP), the chatbot will engage in natural conversations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with visitors, respond to queries, and provide relevant information regarding exhibitions,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timings, and events. This will enhance the overall visitor experience by making the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interaction more human-like and informative.</a:t>
            </a:r>
          </a:p>
          <a:p>
            <a:pPr marL="342900" lvl="0" indent="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4 Personalization and Recommendations</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offer personalized suggestions based on visitor preferences, booking history,</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and exhibition popularity. By doing so, it will not only simplify decision-making for visitors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but also promote specific events and exhibitions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a:t>
            </a:r>
            <a:r>
              <a:rPr lang="en-IN" dirty="0">
                <a:latin typeface="Cambria" panose="02040503050406030204" pitchFamily="18" charset="0"/>
                <a:ea typeface="Cambria" panose="02040503050406030204" pitchFamily="18" charset="0"/>
              </a:rPr>
              <a:t>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5 Secure Payment Integration</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To complete the booking cycle, the chatbot will integrate reliable and secure payment</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gateways. This ensures a smooth, contactless, and safe transaction process, reducing manual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intervention and human error.</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6 Scalability and Performance</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chatbot will be designed to handle high booking volumes during peak hours or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events without system breakdowns. This ensures uninterrupted service availability and</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improves operational efficiency for museum management.</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7 Data Analytics for Management</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provide museum administrators with real-time analytics, including visitor</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traffic, ticket sales, and peak times. These insights will aid in better planning, resource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allocation, and promotional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21592" y="265845"/>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EXISTING METHODS &amp; DRAWBACKS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36954" y="1019908"/>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1 Limited Scope of Natural Language Processing (NLP) in Visitor Interactions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Although NLP has advanced considerably in conversational AI, existing chatbot systems in museums and tourism often fail to understand complex or context-specific visitor queries. Many chatbots provide only predefined responses and struggle with nuanced questions, such as cultural or exhibition-related inquiries. This limitation reduces user satisfaction and prevents a fully interactive, human-like experience.</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2 Inadequate Personalization and Recommendation Systems</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Current museum ticketing chatbots primarily handle basic tasks such as booking and payment processing. However, they rarely provide personalized recommendations (e.g., suggesting exhibitions based on visitor preferences or previous visits). A significant gap remains in developing AI systems that use visitor history, demographics, and behavior to create tailored experiences.</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3 Lack of Multilingual and Inclusive Support</a:t>
            </a:r>
            <a:endParaRPr lang="en-US" altLang="en-US" sz="155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Many chatbot ticketing platforms support only a single language (often English). This excludes a large section of visitors in multilingual regions, particularly tourists and local communities who prefer regional languages. Additionally, inclusivity features such as voice support for visually impaired visitors are limited. Expanding multilingual NLP and accessibility features remains a major research need.</a:t>
            </a:r>
          </a:p>
          <a:p>
            <a:pPr marL="342900" lvl="0" indent="-190500" algn="just">
              <a:spcBef>
                <a:spcPts val="0"/>
              </a:spcBef>
              <a:buNone/>
            </a:pPr>
            <a:endParaRPr lang="en-US" altLang="en-US" sz="155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550" b="1" dirty="0">
                <a:latin typeface="Cambria" panose="02040503050406030204" pitchFamily="18" charset="0"/>
                <a:ea typeface="Cambria" panose="02040503050406030204" pitchFamily="18" charset="0"/>
              </a:rPr>
              <a:t>4 Scalability and Performance under Peak Demand</a:t>
            </a:r>
          </a:p>
          <a:p>
            <a:pPr marL="342900" lvl="0" indent="0" algn="just">
              <a:spcBef>
                <a:spcPts val="0"/>
              </a:spcBef>
              <a:buNone/>
            </a:pPr>
            <a:r>
              <a:rPr lang="en-US" altLang="en-US" sz="1550" dirty="0">
                <a:latin typeface="Cambria" panose="02040503050406030204" pitchFamily="18" charset="0"/>
                <a:ea typeface="Cambria" panose="02040503050406030204" pitchFamily="18" charset="0"/>
              </a:rPr>
              <a:t>Existing chatbot systems often fail during high-traffic situations, such as festivals, weekends, or special exhibitions. Research is required to design scalable AI-powered systems that can efficiently handle massive booking volumes without compromising speed, accuracy, or availability.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0" y="975946"/>
            <a:ext cx="12054254" cy="5120055"/>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methodology section gives a thorough overview on how the AI Chatbot Based Ticketing System is conceived, constructed, and deployed. Data gathering, AI model creation, system architecture, user interface, testing, security, and privacy considerations are all included in the process. Along with comprehensive technical explanations, graphics, and case studies when appropriate, it also covers future directions and procedures for continual improvement</a:t>
            </a:r>
            <a:r>
              <a:rPr lang="en-IN" altLang="en-US" sz="1500" dirty="0">
                <a:latin typeface="Cambria" panose="02040503050406030204" pitchFamily="18" charset="0"/>
                <a:ea typeface="Cambria" panose="02040503050406030204" pitchFamily="18" charset="0"/>
              </a:rPr>
              <a:t>.</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Requirements Gathering and Initial Planning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Project Vision and Context</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Problem Identification: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1.Manual Ticketing Issues: Traditional ticket counters at museums lead to long queues, delays, and human errors.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2.Visitor Dissatisfaction: Lack of real-time updates and slow processes reduce visitor satisfaction.</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3.Accessibility Challenges: Non-native speakers and differently-abled visitors often struggle with manual or English-only ticketing systems.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4.Operational Burden: Staff must manually manage records, payments, and reservations, which increases workload.</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5.Scalability Issues: Existing systems are not well equipped to handle peak season demands or large events.  </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Project Scope: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1.AI-Powered Chatbot for Visitor Queries – Provides instant responses to FAQs, event schedules, and museum services.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2.Automated Ticket Booking System – Visitors book entry, special exhibitions, and events through a chatbot with instant confirmations.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3.Personalized Recommendations – AI suggests exhibitions and events based on visitor profiles and booking history.</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4.Multilingual &amp; Voice Support – Chatbot supports multiple languages and voice commands for inclusivity.</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487485" y="952500"/>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Feasibility Analysis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Technical viability:</a:t>
            </a:r>
            <a:r>
              <a:rPr lang="en-US" altLang="en-US" sz="1500" dirty="0">
                <a:latin typeface="Cambria" panose="02040503050406030204" pitchFamily="18" charset="0"/>
                <a:ea typeface="Cambria" panose="02040503050406030204" pitchFamily="18" charset="0"/>
              </a:rPr>
              <a:t> The system is based on Flask/Django for backend, React/Flutter for frontend, and MySQL/PostgreSQL for databases. AI chatbot is powered by transformer-based NLP models fine-tuned for visitor queries. Cloud deployment (</a:t>
            </a:r>
            <a:r>
              <a:rPr lang="en-US" altLang="en-US" sz="1500">
                <a:latin typeface="Cambria" panose="02040503050406030204" pitchFamily="18" charset="0"/>
                <a:ea typeface="Cambria" panose="02040503050406030204" pitchFamily="18" charset="0"/>
              </a:rPr>
              <a:t>AWS ) </a:t>
            </a:r>
            <a:r>
              <a:rPr lang="en-US" altLang="en-US" sz="1500" dirty="0">
                <a:latin typeface="Cambria" panose="02040503050406030204" pitchFamily="18" charset="0"/>
                <a:ea typeface="Cambria" panose="02040503050406030204" pitchFamily="18" charset="0"/>
              </a:rPr>
              <a:t>ensures scalability, reliability, and performance.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Economic viability: </a:t>
            </a:r>
            <a:r>
              <a:rPr lang="en-US" altLang="en-US" sz="1500" dirty="0">
                <a:latin typeface="Cambria" panose="02040503050406030204" pitchFamily="18" charset="0"/>
                <a:ea typeface="Cambria" panose="02040503050406030204" pitchFamily="18" charset="0"/>
              </a:rPr>
              <a:t>Automation reduces operational costs for museums, minimizes manpower, and improves efficiency. Development costs include AI model training, integration with payment gateways, and infrastructure hosting, but long-term benefits include higher visitor satisfaction and revenue.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Legal Viability:</a:t>
            </a:r>
            <a:r>
              <a:rPr lang="en-US" altLang="en-US" sz="1500" dirty="0">
                <a:latin typeface="Cambria" panose="02040503050406030204" pitchFamily="18" charset="0"/>
                <a:ea typeface="Cambria" panose="02040503050406030204" pitchFamily="18" charset="0"/>
              </a:rPr>
              <a:t> The system complies with GDPR and IT Act regulations for data protection. All user data is stored securely with consent. Compliance with financial transaction standards ensures trustworthy online payments.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Data Collection, Preprocessing, and Annotation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2.1. Data Collection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Data collection is the foundation of the AI-powered ticketing system for museums. High-quality datasets are gathered from multiple sources, including museum FAQs, event guides, and ticketing archives, which contain essential details about exhibitions, pricing, and booking procedures. Visitor interaction data and anonymized chatbot logs are also collected to better understand real-world user queries and behaviors. In addition, open datasets in tourism and cultural heritage are incorporated to enrich the knowledge base with relevant domain-specific information.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360485" y="888023"/>
            <a:ext cx="11120315" cy="5207978"/>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2.2. Data Annotation and Labeling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Collected data is annotated to prepare it for training AI models. Visitor queries are labeled according to specific intents such as ticket booking, event information, or refund requests. Entities like exhibition names, dates, times, and visitor categories are extracted and classified to provide structured information for the NLP models. Multilingual intent-response datasets are developed to ensure inclusivity for both local and international visitors. This structured annotation and labeling process enables the system to accurately classify visitor needs and provide precise, context-specific responses.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2.3 Preprocessing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Before feeding data into the AI models, preprocessing is applied to ensure clean and standardized input. Irrelevant text is removed, and ticket/event formats are normalized for consistency. Tokenization and lemmatization techniques break down visitor queries into machine-readable components while preserving their semantic meaning. Named Entity Recognition (NER) is employed to identify specific elements such as “Modern Art Exhibition – 5 PM.” Vectorization then converts queries into embeddings, making them suitable for intent classification and response generation. This preprocessing pipeline ensures that the AI system can effectively interpret a wide range of visitor queries.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ARCHITECTURE DIAGRAM</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endParaRPr lang="en-US" altLang="en-US" sz="14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AAA1FC7A-0E06-79F2-C5CD-361B980D5270}"/>
              </a:ext>
            </a:extLst>
          </p:cNvPr>
          <p:cNvPicPr>
            <a:picLocks noChangeAspect="1"/>
          </p:cNvPicPr>
          <p:nvPr/>
        </p:nvPicPr>
        <p:blipFill>
          <a:blip r:embed="rId3"/>
          <a:stretch>
            <a:fillRect/>
          </a:stretch>
        </p:blipFill>
        <p:spPr>
          <a:xfrm>
            <a:off x="812799" y="1011115"/>
            <a:ext cx="10766669" cy="4952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Overview of the System </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Frontend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frontend layer of the system emphasizes usability, accessibility, and inclusivity to deliver a seamless ticketing experience across desktop, mobile, and on-site kiosks. The responsive design ensures compatibility with multiple screen sizes and devices, catering to diverse visitors, including tourists, families, and differently-abled individuals.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Users interact with the chatbot through text or voice commands in multiple languages to book tickets, check event schedules, or inquire about museum facilities. The chatbot provides real-time responses, including ticket confirmations, QR codes for entry, and personalized recommendations for exhibitions.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Backend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backend layer, built using the Flask/Django framework, forms the core of the system, handling business logic, chatbot processing, and integration with external APIs. Core functions include ticket reservation, payment gateway processing, visitor authentication, and real-time availability updates.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At its heart, NLP-driven AI models interpret visitor queries, provide exhibition information, and assist in ticket booking. These models leverage frameworks such as TensorFlow, PyTorch, and Hugging Face Transformers for multilingual understanding and context-aware interactions.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1.3 Data Layer </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The data layer manages structured information such as user registrations, booking details, payment records, QR codes, and visitor queries. A MySQL/PostgreSQL relational database is used for transaction integrity and scalability.</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To maintain security and compliance, sensitive data is encrypted at rest using AES-256 and protected during transmission with TLS protocols. Comprehensive audit logging captures all ticketing operations (bookings, cancellations, refunds) for accountability and compliance with tourism and data protection regulations.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 Data</a:t>
            </a:r>
            <a:r>
              <a:rPr lang="" altLang="en-US" sz="1600" b="1" dirty="0">
                <a:latin typeface="Cambria" panose="02040503050406030204" pitchFamily="18" charset="0"/>
                <a:ea typeface="Cambria" panose="02040503050406030204" pitchFamily="18" charset="0"/>
              </a:rPr>
              <a:t> </a:t>
            </a:r>
            <a:r>
              <a:rPr lang="en-US" altLang="en-US" sz="1600" b="1" dirty="0">
                <a:latin typeface="Cambria" panose="02040503050406030204" pitchFamily="18" charset="0"/>
                <a:ea typeface="Cambria" panose="02040503050406030204" pitchFamily="18" charset="0"/>
              </a:rPr>
              <a:t>Management</a:t>
            </a: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2.1 Data Collection</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For training and optimizing chatbot responses, data is collected from museum FAQs, ticketing archives, visitor queries, and open datasets in tourism and cultural heritage. Multilingual conversational corpora are incorporated to support both local and international audiences.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Additionally, real-time user interactions (with consent) are anonymized and used to improve chatbot performance, ensuring it adapts to evolving visitor needs. Data collection strictly follows GDPR and Indian IT Act guidelines to ensure privacy and informed consent.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2.2 Preparation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collected data undergoes a preparation pipeline for chatbot training and response optimization, including: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Cleaning: Removing irrelevant text such as outdated announcements.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Normalization: Standardizing ticket types, exhibition codes, and event metadata.</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Anonymization: Masking personal identifiers like phone numbers and payment details.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Tokenization &amp; Lemmatization: Processing multilingual visitor queries for better NLP interpretation.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Entity Recognition: Identifying key entities such as exhibition names, dates, times, and visitor categories.</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preprocessing ensures that the chatbot generates accurate, relevant, and context-aware responses.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 AI Model Development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3.1 Choosing a Model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address the diverse tasks in museum ticketing and visitor support, a combination of AI models is used: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Transformer-based GPT/NLP models: For natural conversations, ticket inquiries, and event information.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Classification models (SVM, Random Forest): To categorize visitor intents (e.g., booking tickets, refund queries, exhibition info).</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Named Entity Recognition (NER): To extract structured details like exhibition names, ticket types, or dates.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Recommendation models: To suggest exhibitions or events based on visitor profiles and history.</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multi-model approach ensures adaptability, personalization, and reliable visitor interaction.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3.2 Optimization and Training</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Training uses museum-specific datasets, tourism FAQs, and anonymized visitor interactions. Data is split into training, validation, and testing sets for robust evaluation.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Regularization techniques like Dropout prevent overfitting.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Cross-validation ensures performance across different query types.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Hyperparameter tuning (grid search, Bayesian optimization) optimizes model performance.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Optimizers like Adam are applied for faster convergence.</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pipeline produces well-generalized models capable of handling diverse visitor scenarios.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3.3 Metrics for Evaluation </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Different metrics are applied depending on the chatbot tasks: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Precision, Recall, F1-Score: For intent detection and classification accuracy.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BLEU &amp; ROUGE scores: For evaluating conversational response quality.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Confusion matrices &amp; accuracy: For ticket category classification.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Mean Reciprocal Rank (MRR) &amp; NDCG: For recommendation relevance.</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These metrics ensure high-quality, contextually accurate chatbot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054100"/>
            <a:ext cx="10668000" cy="5324475"/>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 Implementation Details</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4.1 Voice-Activated Interface</a:t>
            </a:r>
            <a:r>
              <a:rPr lang="en-US" altLang="en-US" sz="1500" dirty="0">
                <a:latin typeface="Cambria" panose="02040503050406030204" pitchFamily="18" charset="0"/>
                <a:ea typeface="Cambria" panose="02040503050406030204" pitchFamily="18" charset="0"/>
              </a:rPr>
              <a: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system supports voice-enabled ticket booking and inquiry, using Speech-to-Text APIs (Google Speech, Azure Cognitive Services). Visitors can request tickets, ask about exhibitions, or confirm reservations using natural speech in multiple languages. Text-to-Speech functionality allows the chatbot to read out confirmations and exhibition details, improving accessibility for visually impaired users or non-digital-native visitors.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4.2 Integration with the Cloud</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platform is deployed on scalable cloud infrastructure (AWS/Azure) with auto-scaling and load balancing to ensure smooth performance during peak seasons. Disaster recovery measures include automated backups, replication across regions, and failover support.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4.3 Security Measure</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safeguard visitor and transaction data:</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AES-256 encryption secures data at rest.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TLS 1.3 secures communication in transit.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Role-Based Access Control (RBAC) limits sensitive data access to authorized museum staff.</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Threat monitoring and audit logs provide real-time security alerts and regulatory compliance.</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HARDWARE AND SOFTWARE DETAILS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Hardware Requirements</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Client-Side (Web/Mobile/Kiosk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Dual-Core 2.0 GHz or higher</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Minimum 4 GB (Recommended: 8 GB for smooth performance on kiosks)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20 GB free space (for mobile app/kiosk installations)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Display: 10”+ touchscreen for kiosks, standard smartphone/PC for other users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Stable internet connection (minimum 2 Mbps; recommended 10 Mbps for real-time responses)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Peripherals (Kiosk-specific):</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1.Thermal Printer (for ticket printing)</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2.QR/Barcode Scanner (for validation at entry)</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3.Microphone and Speaker (for voice-based interaction)</a:t>
            </a:r>
          </a:p>
          <a:p>
            <a:pPr marL="1714500" lvl="3" indent="0" algn="just">
              <a:spcBef>
                <a:spcPts val="0"/>
              </a:spcBef>
              <a:buNone/>
            </a:pPr>
            <a:r>
              <a:rPr lang="en-US" altLang="en-US" sz="1500" dirty="0">
                <a:latin typeface="Cambria" panose="02040503050406030204" pitchFamily="18" charset="0"/>
                <a:ea typeface="Cambria" panose="02040503050406030204" pitchFamily="18" charset="0"/>
              </a:rPr>
              <a:t>4.NFC/RFID Reader (optional, for contactless check-in)</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Server-Side (Backend + AI Processing)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Processor: Intel Xeon / AMD EPYC, 8-core (minimum), 16-core (recommended)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RAM: 32 GB (minimum), 64 GB (recommended for peak loads)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Storage: 1 TB SSD (minimum), scalable cloud storage (AWS S3/Google Cloud Storage)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GPU (optional for NLP training): NVIDIA Tesla V100 / A100 for large-scale AI model fine-tuning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Network: High-speed broadband with 1 Gbps uplink, load-balanced for concurrency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 </a:t>
            </a:r>
            <a:r>
              <a:rPr lang="en-IN" altLang="en-US" sz="1500" dirty="0">
                <a:latin typeface="Cambria" panose="02040503050406030204" pitchFamily="18" charset="0"/>
                <a:ea typeface="Cambria" panose="02040503050406030204" pitchFamily="18" charset="0"/>
              </a:rPr>
              <a:t>    </a:t>
            </a:r>
            <a:r>
              <a:rPr lang="en-US" altLang="en-US" sz="1500" dirty="0">
                <a:latin typeface="Cambria" panose="02040503050406030204" pitchFamily="18" charset="0"/>
                <a:ea typeface="Cambria" panose="02040503050406030204" pitchFamily="18" charset="0"/>
              </a:rPr>
              <a:t>Scalability: Auto-scaling enabled on cloud infrastructure (AWS EC2, Kubernetes clusters)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12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sz="1600"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panose="020B0604020202020204"/>
              <a:buNone/>
            </a:pPr>
            <a:endParaRPr lang="en-US" sz="1600"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sz="1600"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panose="020B0604020202020204"/>
              <a:buNone/>
            </a:pPr>
            <a:endParaRPr lang="en-US" sz="16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US" sz="1600" dirty="0">
                <a:latin typeface="Cambria" panose="02040503050406030204" pitchFamily="18" charset="0"/>
                <a:ea typeface="Cambria" panose="02040503050406030204" pitchFamily="18" charset="0"/>
                <a:hlinkClick r:id="rId3" action="ppaction://hlinkfile"/>
              </a:rPr>
              <a:t>https://github.com/ISE-45/PSCS-481-Online-Chatbot-Based-Ticketing-System.git</a:t>
            </a:r>
            <a:endParaRPr lang="en-US" alt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a:t>
            </a:r>
            <a:r>
              <a:rPr lang="en-IN" altLang="en-GB" dirty="0">
                <a:latin typeface="Cambria" panose="02040503050406030204" pitchFamily="18" charset="0"/>
                <a:ea typeface="Cambria" panose="02040503050406030204" pitchFamily="18" charset="0"/>
              </a:rPr>
              <a:t>IMELINE OF THE PROJECT</a:t>
            </a:r>
            <a:r>
              <a:rPr lang="en-GB" dirty="0">
                <a:latin typeface="Cambria" panose="02040503050406030204" pitchFamily="18" charset="0"/>
                <a:ea typeface="Cambria" panose="02040503050406030204" pitchFamily="18" charset="0"/>
              </a:rPr>
              <a: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80820"/>
            <a:ext cx="10668000" cy="222758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IN" sz="1600" dirty="0">
              <a:latin typeface="Cambria" panose="02040503050406030204" pitchFamily="18" charset="0"/>
              <a:ea typeface="Cambria" panose="02040503050406030204" pitchFamily="18" charset="0"/>
            </a:endParaRPr>
          </a:p>
        </p:txBody>
      </p:sp>
      <p:pic>
        <p:nvPicPr>
          <p:cNvPr id="2" name="Picture 1" descr="Gnatt Chart"/>
          <p:cNvPicPr>
            <a:picLocks noChangeAspect="1"/>
          </p:cNvPicPr>
          <p:nvPr/>
        </p:nvPicPr>
        <p:blipFill>
          <a:blip r:embed="rId3"/>
          <a:stretch>
            <a:fillRect/>
          </a:stretch>
        </p:blipFill>
        <p:spPr>
          <a:xfrm>
            <a:off x="758825" y="1188085"/>
            <a:ext cx="10721975" cy="2520315"/>
          </a:xfrm>
          <a:prstGeom prst="rect">
            <a:avLst/>
          </a:prstGeom>
        </p:spPr>
      </p:pic>
      <p:sp>
        <p:nvSpPr>
          <p:cNvPr id="3" name="Text Box 2"/>
          <p:cNvSpPr txBox="1"/>
          <p:nvPr/>
        </p:nvSpPr>
        <p:spPr>
          <a:xfrm>
            <a:off x="1858645" y="3930015"/>
            <a:ext cx="8576310" cy="1789430"/>
          </a:xfrm>
          <a:prstGeom prst="rect">
            <a:avLst/>
          </a:prstGeom>
          <a:noFill/>
        </p:spPr>
        <p:txBody>
          <a:bodyPr wrap="square" rtlCol="0">
            <a:noAutofit/>
          </a:bodyPr>
          <a:lstStyle/>
          <a:p>
            <a:endParaRPr lang="en-US"/>
          </a:p>
        </p:txBody>
      </p:sp>
      <p:graphicFrame>
        <p:nvGraphicFramePr>
          <p:cNvPr id="4" name="Table 3"/>
          <p:cNvGraphicFramePr/>
          <p:nvPr/>
        </p:nvGraphicFramePr>
        <p:xfrm>
          <a:off x="2809240" y="4038790"/>
          <a:ext cx="5803265" cy="1571625"/>
        </p:xfrm>
        <a:graphic>
          <a:graphicData uri="http://schemas.openxmlformats.org/drawingml/2006/table">
            <a:tbl>
              <a:tblPr/>
              <a:tblGrid>
                <a:gridCol w="3337560">
                  <a:extLst>
                    <a:ext uri="{9D8B030D-6E8A-4147-A177-3AD203B41FA5}">
                      <a16:colId xmlns:a16="http://schemas.microsoft.com/office/drawing/2014/main" val="20000"/>
                    </a:ext>
                  </a:extLst>
                </a:gridCol>
                <a:gridCol w="2465705">
                  <a:extLst>
                    <a:ext uri="{9D8B030D-6E8A-4147-A177-3AD203B41FA5}">
                      <a16:colId xmlns:a16="http://schemas.microsoft.com/office/drawing/2014/main" val="20001"/>
                    </a:ext>
                  </a:extLst>
                </a:gridCol>
              </a:tblGrid>
              <a:tr h="356870">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Phase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Timeline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Planning and Requirement Gathering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21 - Jul 25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Desgin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28 - Aug 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System Architecture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4 - Aug 15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Frontend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18 - Sep 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Backend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8 - Sep 26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AI and  NLP Integration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29 - Oct 17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Testing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Oct 20 - Oct 31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 </a:t>
            </a:r>
            <a:r>
              <a:rPr lang="" altLang="en-US" sz="1400" dirty="0">
                <a:latin typeface="Verdana" panose="020B0604030504040204" charset="0"/>
                <a:ea typeface="Cambria" panose="02040503050406030204" pitchFamily="18" charset="0"/>
                <a:cs typeface="Verdana" panose="020B0604030504040204" charset="0"/>
              </a:rPr>
              <a:t>Š</a:t>
            </a:r>
            <a:r>
              <a:rPr lang="en-US" altLang="en-US" sz="1400" dirty="0">
                <a:latin typeface="Verdana" panose="020B0604030504040204" charset="0"/>
                <a:ea typeface="Cambria" panose="02040503050406030204" pitchFamily="18" charset="0"/>
                <a:cs typeface="Verdana" panose="020B0604030504040204" charset="0"/>
              </a:rPr>
              <a:t>tekerová, K. (2022) ‘Chatbots in Museums: Is Visitor Experience Measured?’, Czech</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Journal of Tourism, Vol.11, No.1–2, pp.14–31. https://doi.org/10.2478/cjot-2022-0002</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[2]. Pandey, S., Tripathee, A., Shankhwar, J., &amp; Rajput, A. (2025) ‘Museum Chatbot</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Ticketing System: An AI-Driven Approach To Enhance Visitor Experience And OperationalEfficiency’, International Journal of Creative Research Thoughts, Vol.13, No.5, pp.86–88.</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[3]. Venkata Pavan, B., &amp; Priyanka, P. (2025) ‘Online Chatbot Based Ticketing System forMuseum’, Zenodo, July 28. https://doi.org/10.5281/zenodo.1234567</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[4]. Reddy, M., Thouheed, V. M., Raza, I., &amp; Srinivasan, T. R. (2025) ‘Online ChatbotTicketing Based System’, International Journal of Innovative Research in Technology,</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Vol.11, No.12.</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[5]. Bediskar, R., Bagul, P., Kedar, M., &amp; Mandavkar, P. (2025) ‘Online Chatbot Based</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Ticketing System for Museum’, IJSREM Journal.</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[6]. Beeban Basha, S., &amp; Mohana Priya, K. (2025) ‘Online Chatbot Based Ticketing System</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for Museums using Machine Learning’, Computer Science Journal, Vol.18, No.3.</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[7]. Mathias, M., et al. (2015) ‘Optimisation using Natural Language Processing:</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Personalized Tour Recommendation for Museums’, arXiv preprint.</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https://arxiv.org/abs/1501.01234</a:t>
            </a:r>
            <a:r>
              <a:rPr lang="en-IN" altLang="en-US" sz="1400" dirty="0">
                <a:latin typeface="Verdana" panose="020B0604030504040204" charset="0"/>
                <a:ea typeface="Cambria" panose="02040503050406030204" pitchFamily="18" charset="0"/>
                <a:cs typeface="Verdana" panose="020B0604030504040204" charset="0"/>
                <a:sym typeface="+mn-ea"/>
              </a:rPr>
              <a:t> </a:t>
            </a:r>
            <a:endParaRPr lang="en-IN"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[8]. Jones, A., &amp; Patel, R. (2019) ‘AI Chatbots in Tourism: Current Challenges and Future</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Opportunities’, Tourism Management Perspectives, Vol.32, pp.201–218.</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https://doi.org/10.1016/j.tmp.2019.100576</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[9]. Brown, M., et al. (2020) ‘Conversational AI in Customer Service: A Comprehensive</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Review’, International Journal of Human-Computer Studies, Vol.139, pp.45–63.</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https://doi.org/10.1016/j.ijhcs.2020.102430</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[10]. Huang, L., &amp; Yang, Z. (2017) ‘Natural Language Processing for Human-Computer</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Interaction: A Survey’, IEEE Transactions on Computational Intelligence, Vol.11, No.5,</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pp.105–120. </a:t>
            </a:r>
            <a:r>
              <a:rPr lang="en-US" altLang="en-US" sz="1400" dirty="0">
                <a:solidFill>
                  <a:schemeClr val="tx1"/>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https://doi.org/10.1109/TCI</a:t>
            </a:r>
            <a:r>
              <a:rPr lang="en-US" altLang="en-US" sz="1400" dirty="0">
                <a:solidFill>
                  <a:srgbClr val="800080"/>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a:t>
            </a:r>
            <a:r>
              <a:rPr lang="en-US" altLang="en-US" sz="1400" dirty="0">
                <a:solidFill>
                  <a:schemeClr val="tx1"/>
                </a:solidFill>
                <a:latin typeface="Verdana" panose="020B0604030504040204" charset="0"/>
                <a:ea typeface="Cambria" panose="02040503050406030204" pitchFamily="18" charset="0"/>
                <a:cs typeface="Verdana" panose="020B0604030504040204" charset="0"/>
                <a:hlinkClick r:id="rId3">
                  <a:extLst>
                    <a:ext uri="{A12FA001-AC4F-418D-AE19-62706E023703}">
                      <ahyp:hlinkClr xmlns:ahyp="http://schemas.microsoft.com/office/drawing/2018/hyperlinkcolor" val="tx"/>
                    </a:ext>
                  </a:extLst>
                </a:hlinkClick>
              </a:rPr>
              <a:t>2017.3034171</a:t>
            </a:r>
            <a:endParaRPr lang="en-US" altLang="en-US" sz="1400" dirty="0">
              <a:solidFill>
                <a:schemeClr val="tx1"/>
              </a:solidFill>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[11]. Singh, N., &amp; Kumar, A. (2019) ‘AI-Driven Automation in the Tourism and Cultural</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Heritage Sector’, Journal of AI &amp; Society, Vol.22, No.4, pp.190–205.</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https://doi.org/10.1007/s00146-019-00912-3</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rPr>
              <a:t>[12]. Nguyen, T., &amp; Tran, P. (2022) ‘AI-Powered Ticketing and Smart Tourism:</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Opportunities and Challenges’, IEEE International Conference on Big Data, pp.540–550.</a:t>
            </a:r>
            <a:r>
              <a:rPr lang="en-IN" altLang="en-US" sz="1400" dirty="0">
                <a:latin typeface="Verdana" panose="020B0604030504040204" charset="0"/>
                <a:ea typeface="Cambria" panose="02040503050406030204" pitchFamily="18" charset="0"/>
                <a:cs typeface="Verdana" panose="020B0604030504040204" charset="0"/>
              </a:rPr>
              <a:t> </a:t>
            </a:r>
            <a:r>
              <a:rPr lang="en-US" altLang="en-US" sz="1400" dirty="0">
                <a:latin typeface="Verdana" panose="020B0604030504040204" charset="0"/>
                <a:ea typeface="Cambria" panose="02040503050406030204" pitchFamily="18" charset="0"/>
                <a:cs typeface="Verdana" panose="020B0604030504040204" charset="0"/>
              </a:rPr>
              <a:t>https://doi.org/10.1109/BigData.2022.9371021</a:t>
            </a: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[13]. Davis, M., &amp; Lee, A. (2021) ‘Conversational AI in Tourism: Enhancing Visitor</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Engagement through Chatbots’, Journal of Hospitality and Tourism Technology, Vol.12,</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No.2, pp.211–223. https://doi.org/10.1108/JHTT-2021-0025</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[14]. Patel, R., &amp; Gupta, A. (2021) ‘Leveraging Natural Language Processing for Efficient</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Visitor Interaction’, IEEE Transactions on Software Engineering, Vol.47, No.4, pp.350–365.</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https://doi.org/10.1109/TSE.2021.3087469</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400" dirty="0">
                <a:latin typeface="Verdana" panose="020B0604030504040204" charset="0"/>
                <a:ea typeface="Cambria" panose="02040503050406030204" pitchFamily="18" charset="0"/>
                <a:cs typeface="Verdana" panose="020B0604030504040204" charset="0"/>
                <a:sym typeface="+mn-ea"/>
              </a:rPr>
              <a:t>[15]. Bhatia, R., &amp; Singh, A. (2020) ‘Creating User-Friendly Chatbot Interfaces for</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Museums and Tourism’, IEEE Access, Vol.8, pp.119758–119772.</a:t>
            </a:r>
            <a:r>
              <a:rPr lang="en-IN" altLang="en-US" sz="1400" dirty="0">
                <a:latin typeface="Verdana" panose="020B0604030504040204" charset="0"/>
                <a:ea typeface="Cambria" panose="02040503050406030204" pitchFamily="18" charset="0"/>
                <a:cs typeface="Verdana" panose="020B0604030504040204" charset="0"/>
                <a:sym typeface="+mn-ea"/>
              </a:rPr>
              <a:t> </a:t>
            </a:r>
            <a:r>
              <a:rPr lang="en-US" altLang="en-US" sz="1400" dirty="0">
                <a:latin typeface="Verdana" panose="020B0604030504040204" charset="0"/>
                <a:ea typeface="Cambria" panose="02040503050406030204" pitchFamily="18" charset="0"/>
                <a:cs typeface="Verdana" panose="020B0604030504040204" charset="0"/>
                <a:sym typeface="+mn-ea"/>
              </a:rPr>
              <a:t>https://doi.org/10.1109/ACCESS.2020.3005575</a:t>
            </a: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4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3614</Words>
  <Application>Microsoft Office PowerPoint</Application>
  <PresentationFormat>Widescreen</PresentationFormat>
  <Paragraphs>279</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Bookman Old Style</vt:lpstr>
      <vt:lpstr>Cambria</vt:lpstr>
      <vt:lpstr>Times New Roman</vt:lpstr>
      <vt:lpstr>Verdana</vt:lpstr>
      <vt:lpstr>Bioinformatics</vt:lpstr>
      <vt:lpstr>PSCS-481 Online Chatbot Based Ticketing System</vt:lpstr>
      <vt:lpstr>CONTENT</vt:lpstr>
      <vt:lpstr>ABSTRACT:</vt:lpstr>
      <vt:lpstr>OBJECTIVES: </vt:lpstr>
      <vt:lpstr>OBJECTIVES: </vt:lpstr>
      <vt:lpstr>EXISTING METHODS &amp; DRAWBACKS: </vt:lpstr>
      <vt:lpstr>PROPOSED METHODOLOGY &amp; FEASIBILITY STUDY:</vt:lpstr>
      <vt:lpstr>PROPOSED METHODOLOGY &amp; FEASIBILITY STUDY:</vt:lpstr>
      <vt:lpstr>PROPOSED METHODOLOGY &amp; FEASIBILITY STUDY:</vt:lpstr>
      <vt:lpstr>ARCHITECTURE DIAGRAM: </vt:lpstr>
      <vt:lpstr>MODULES:</vt:lpstr>
      <vt:lpstr>MODULES:</vt:lpstr>
      <vt:lpstr>MODULES:</vt:lpstr>
      <vt:lpstr>MODULES:</vt:lpstr>
      <vt:lpstr>MODULES:</vt:lpstr>
      <vt:lpstr>HARDWARE AND SOFTWARE DETAILS:</vt:lpstr>
      <vt:lpstr>Github Link</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MOHAMED ASLAM PASHA</cp:lastModifiedBy>
  <cp:revision>155</cp:revision>
  <dcterms:created xsi:type="dcterms:W3CDTF">2025-08-10T08:01:00Z</dcterms:created>
  <dcterms:modified xsi:type="dcterms:W3CDTF">2025-09-26T06:16:19Z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5B8C8ECA143E48349E705AAB679A8D76_13</vt:lpwstr>
  </property>
  <property fmtid="{D5CDD505-2E9C-101B-9397-08002B2CF9AE}" pid="3" name="KSOProductBuildVer">
    <vt:lpwstr>1033-12.2.0.22549</vt:lpwstr>
  </property>
</Properties>
</file>