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7"/>
  </p:notesMasterIdLst>
  <p:sldIdLst>
    <p:sldId id="256" r:id="rId2"/>
    <p:sldId id="257" r:id="rId3"/>
    <p:sldId id="269" r:id="rId4"/>
    <p:sldId id="276" r:id="rId5"/>
    <p:sldId id="282" r:id="rId6"/>
    <p:sldId id="301" r:id="rId7"/>
    <p:sldId id="303" r:id="rId8"/>
    <p:sldId id="304" r:id="rId9"/>
    <p:sldId id="285" r:id="rId10"/>
    <p:sldId id="295" r:id="rId11"/>
    <p:sldId id="296" r:id="rId12"/>
    <p:sldId id="297" r:id="rId13"/>
    <p:sldId id="298" r:id="rId14"/>
    <p:sldId id="299" r:id="rId15"/>
    <p:sldId id="305" r:id="rId16"/>
    <p:sldId id="306" r:id="rId17"/>
    <p:sldId id="307" r:id="rId18"/>
    <p:sldId id="308" r:id="rId19"/>
    <p:sldId id="309" r:id="rId20"/>
    <p:sldId id="310" r:id="rId21"/>
    <p:sldId id="311" r:id="rId22"/>
    <p:sldId id="270" r:id="rId23"/>
    <p:sldId id="265" r:id="rId24"/>
    <p:sldId id="286" r:id="rId25"/>
    <p:sldId id="266"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102" autoAdjust="0"/>
    <p:restoredTop sz="94660"/>
  </p:normalViewPr>
  <p:slideViewPr>
    <p:cSldViewPr snapToGrid="0">
      <p:cViewPr varScale="1">
        <p:scale>
          <a:sx n="74" d="100"/>
          <a:sy n="74" d="100"/>
        </p:scale>
        <p:origin x="72" y="3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FF6E25B-5A51-AB5D-2EA6-1B7B14A640C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EAC7FCD-B5A4-B206-F5BD-5455C2510F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9833F46-75A1-8104-A96D-D2065D2F93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290140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US"/>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ISE-45/PSCS-481-Online-Chatbot-Based-Ticketing-System"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IN" altLang="en-GB" sz="2400" dirty="0">
                <a:solidFill>
                  <a:schemeClr val="tx1"/>
                </a:solidFill>
                <a:latin typeface="Cambria" panose="02040503050406030204" pitchFamily="18" charset="0"/>
                <a:ea typeface="Cambria" panose="02040503050406030204" pitchFamily="18" charset="0"/>
              </a:rPr>
              <a:t>PSCS-481 Online Chatbot Based Ticketing System</a:t>
            </a: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IN" altLang="en-GB" sz="1800" dirty="0">
                <a:latin typeface="Cambria" panose="02040503050406030204" pitchFamily="18" charset="0"/>
                <a:ea typeface="Cambria" panose="02040503050406030204" pitchFamily="18" charset="0"/>
              </a:rPr>
              <a:t> ISE-45</a:t>
            </a:r>
          </a:p>
        </p:txBody>
      </p:sp>
      <p:sp>
        <p:nvSpPr>
          <p:cNvPr id="90" name="Google Shape;90;p13"/>
          <p:cNvSpPr txBox="1"/>
          <p:nvPr/>
        </p:nvSpPr>
        <p:spPr>
          <a:xfrm>
            <a:off x="6480175" y="2721610"/>
            <a:ext cx="5514340" cy="181229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a:t>
            </a:r>
            <a:r>
              <a:rPr lang="en-IN" alt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Smitha S P</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sz="1800" dirty="0">
              <a:solidFill>
                <a:schemeClr val="tx1"/>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latin typeface="Cambria" panose="02040503050406030204" pitchFamily="18" charset="0"/>
                          <a:cs typeface="Cambria" panose="02040503050406030204" pitchFamily="18" charset="0"/>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latin typeface="Cambria" panose="02040503050406030204" pitchFamily="18" charset="0"/>
                          <a:cs typeface="Cambria" panose="02040503050406030204" pitchFamily="18" charset="0"/>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latin typeface="Cambria" panose="02040503050406030204" pitchFamily="18" charset="0"/>
                          <a:cs typeface="Cambria" panose="02040503050406030204" pitchFamily="18" charset="0"/>
                        </a:rPr>
                        <a:t>20221ISE0053</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      Mohamed Aslam Pasha</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20221ISE0083</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      Kovuri Nizamuddin</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20221ISE0084</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b="1" u="none" strike="noStrike" cap="none" dirty="0">
                          <a:latin typeface="Cambria" panose="02040503050406030204" pitchFamily="18" charset="0"/>
                          <a:cs typeface="Cambria" panose="02040503050406030204" pitchFamily="18" charset="0"/>
                        </a:rPr>
                        <a:t>      Vaseem B M</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r>
              <a:rPr lang="en-IN"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5</a:t>
            </a:r>
            <a:endParaRPr lang="en-IN"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alt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B.Tech</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Dr.Zafar Ali Khan</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Ms. Suma N G</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a:t>
            </a:r>
            <a:r>
              <a:rPr lang="en-IN" altLang="en-GB" dirty="0">
                <a:latin typeface="Cambria" panose="02040503050406030204" pitchFamily="18" charset="0"/>
                <a:ea typeface="Cambria" panose="02040503050406030204" pitchFamily="18" charset="0"/>
              </a:rPr>
              <a:t>ONTENT</a:t>
            </a:r>
          </a:p>
        </p:txBody>
      </p:sp>
      <p:sp>
        <p:nvSpPr>
          <p:cNvPr id="97" name="Google Shape;97;p14"/>
          <p:cNvSpPr txBox="1">
            <a:spLocks noGrp="1"/>
          </p:cNvSpPr>
          <p:nvPr>
            <p:ph type="body" idx="1"/>
          </p:nvPr>
        </p:nvSpPr>
        <p:spPr>
          <a:xfrm>
            <a:off x="655782" y="1128453"/>
            <a:ext cx="10668000" cy="4971011"/>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IN" altLang="en-US" sz="1800"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altLang="en-US" sz="1800" dirty="0">
                <a:latin typeface="Cambria" panose="02040503050406030204" pitchFamily="18" charset="0"/>
                <a:ea typeface="Cambria" panose="02040503050406030204" pitchFamily="18" charset="0"/>
              </a:rPr>
              <a:t>Proposed methodology &amp; feasibility study</a:t>
            </a:r>
            <a:endParaRPr lang="en-US" sz="1800"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tLang="en-US" sz="1800" dirty="0">
                <a:latin typeface="Cambria" panose="02040503050406030204" pitchFamily="18" charset="0"/>
                <a:ea typeface="Cambria" panose="02040503050406030204" pitchFamily="18" charset="0"/>
              </a:rPr>
              <a:t>Architecture Diagram</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Modules</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Git-Hub Link</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Screen Shots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endParaRPr 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altLang="en-GB" dirty="0">
                <a:latin typeface="Cambria" panose="02040503050406030204" pitchFamily="18" charset="0"/>
                <a:ea typeface="Cambria" panose="02040503050406030204" pitchFamily="18" charset="0"/>
              </a:rPr>
              <a:t>ABSTRACT:</a:t>
            </a:r>
          </a:p>
        </p:txBody>
      </p:sp>
      <p:sp>
        <p:nvSpPr>
          <p:cNvPr id="97" name="Google Shape;97;p14"/>
          <p:cNvSpPr txBox="1">
            <a:spLocks noGrp="1"/>
          </p:cNvSpPr>
          <p:nvPr>
            <p:ph type="body" idx="1"/>
          </p:nvPr>
        </p:nvSpPr>
        <p:spPr>
          <a:xfrm>
            <a:off x="325315" y="1143000"/>
            <a:ext cx="11155484" cy="4953000"/>
          </a:xfrm>
          <a:prstGeom prst="rect">
            <a:avLst/>
          </a:prstGeom>
          <a:noFill/>
          <a:ln>
            <a:noFill/>
          </a:ln>
        </p:spPr>
        <p:txBody>
          <a:bodyPr spcFirstLastPara="1" wrap="square" lIns="91425" tIns="45700" rIns="91425" bIns="45700" anchor="t" anchorCtr="0">
            <a:normAutofit fontScale="97500"/>
          </a:bodyPr>
          <a:lstStyle/>
          <a:p>
            <a:pPr marL="342900" lvl="0" indent="0" algn="just">
              <a:spcBef>
                <a:spcPts val="0"/>
              </a:spcBef>
              <a:buNone/>
            </a:pPr>
            <a:r>
              <a:rPr lang="en-US" altLang="en-US" sz="2000" dirty="0">
                <a:latin typeface="Cambria" panose="02040503050406030204" pitchFamily="18" charset="0"/>
                <a:ea typeface="Cambria" panose="02040503050406030204" pitchFamily="18" charset="0"/>
              </a:rPr>
              <a:t>The aim of this project “AI-Powered Chatbot Based Ticketing System for</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Museums” is to design an intelligent, automated platform that simplifies the ticket</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booking process for museums and cultural institutions. By leveraging Natural</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Language Processing (NLP) and conversational AI, the system enables visitors to</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interact with a chatbot in natural language, making reservations, purchasing tickets,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and receiving exhibition information in real time. The platform is designed to</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eliminate long queues, reduce manual errors, and provide a seamless visitor</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experience through a multilingual, user-friendly interface.</a:t>
            </a:r>
          </a:p>
          <a:p>
            <a:pPr marL="342900" lvl="0" indent="-190500" algn="just">
              <a:spcBef>
                <a:spcPts val="0"/>
              </a:spcBef>
              <a:buNone/>
            </a:pPr>
            <a:endParaRPr lang="en-US" altLang="en-US" sz="20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2000" dirty="0">
                <a:latin typeface="Cambria" panose="02040503050406030204" pitchFamily="18" charset="0"/>
                <a:ea typeface="Cambria" panose="02040503050406030204" pitchFamily="18" charset="0"/>
              </a:rPr>
              <a:t>Despite its simplicity, the system ensures accuracy, speed, and reliability. The chatbot</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interface has been developed with inclusivity in mind, catering to diverse audiences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with varying levels of digital literacy. It supports multilingual communication,</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ensuring accessibility for both local visitors and international tourists. Furthermore,</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the platform integrates secure payment gateways to facilitate safe and contactless</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transactions, while providing museum administrators with real-time analytics on</a:t>
            </a:r>
            <a:r>
              <a:rPr lang="en-IN"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rPr>
              <a:t>visitor traffic, ticket sales, and event participation. </a:t>
            </a:r>
          </a:p>
          <a:p>
            <a:pPr marL="342900" lvl="0" indent="0" algn="just">
              <a:spcBef>
                <a:spcPts val="0"/>
              </a:spcBef>
              <a:buNone/>
            </a:pPr>
            <a:endParaRPr lang="en-US" alt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altLang="en-GB" dirty="0">
                <a:latin typeface="Cambria" panose="02040503050406030204" pitchFamily="18" charset="0"/>
                <a:ea typeface="Cambria" panose="02040503050406030204" pitchFamily="18" charset="0"/>
              </a:rPr>
              <a:t>OBJECTIVES</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1 Automating Ticket Booking</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primary objective of this project is to automate the ticket booking process in museums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through an AI-powered chatbot. The system will enable users to book entry tickets, special</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exhibition passes, and event reservations seamlessly, eliminating the inefficiencies of</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manual ticketing.</a:t>
            </a:r>
          </a:p>
          <a:p>
            <a:pPr marL="342900" lvl="0" indent="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2 User-Friendly Multilingual Interface</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sym typeface="+mn-ea"/>
              </a:rPr>
              <a:t>The chatbot will provide a simple and intuitive interface, accessible across web, mobile, and</a:t>
            </a:r>
            <a:r>
              <a:rPr lang="en-IN" altLang="en-US" sz="1800" dirty="0">
                <a:latin typeface="Cambria" panose="02040503050406030204" pitchFamily="18" charset="0"/>
                <a:ea typeface="Cambria" panose="02040503050406030204" pitchFamily="18" charset="0"/>
                <a:sym typeface="+mn-ea"/>
              </a:rPr>
              <a:t> </a:t>
            </a:r>
            <a:r>
              <a:rPr lang="en-US" altLang="en-US" sz="1800" dirty="0">
                <a:latin typeface="Cambria" panose="02040503050406030204" pitchFamily="18" charset="0"/>
                <a:ea typeface="Cambria" panose="02040503050406030204" pitchFamily="18" charset="0"/>
                <a:sym typeface="+mn-ea"/>
              </a:rPr>
              <a:t>kiosks. It will support multiple languages to cater to both local and international visitors,</a:t>
            </a:r>
            <a:r>
              <a:rPr lang="en-IN" altLang="en-US" sz="1800" dirty="0">
                <a:latin typeface="Cambria" panose="02040503050406030204" pitchFamily="18" charset="0"/>
                <a:ea typeface="Cambria" panose="02040503050406030204" pitchFamily="18" charset="0"/>
                <a:sym typeface="+mn-ea"/>
              </a:rPr>
              <a:t> </a:t>
            </a:r>
            <a:r>
              <a:rPr lang="en-US" altLang="en-US" sz="1800" dirty="0">
                <a:latin typeface="Cambria" panose="02040503050406030204" pitchFamily="18" charset="0"/>
                <a:ea typeface="Cambria" panose="02040503050406030204" pitchFamily="18" charset="0"/>
                <a:sym typeface="+mn-ea"/>
              </a:rPr>
              <a:t>ensuring inclusivity and ease of use for diverse audiences.</a:t>
            </a:r>
            <a:endParaRPr lang="en-US" altLang="en-US" sz="1800" b="1" dirty="0">
              <a:latin typeface="Cambria" panose="02040503050406030204" pitchFamily="18" charset="0"/>
              <a:ea typeface="Cambria" panose="02040503050406030204" pitchFamily="18" charset="0"/>
            </a:endParaRP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3 AI-Powered Visitor Interaction</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Using Natural Language Processing (NLP), the chatbot will engage in natural conversations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with visitors, respond to queries, and provide relevant information regarding exhibitions,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timings, and events. This will enhance the overall visitor experience by making the</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interaction more human-like and informative.</a:t>
            </a:r>
          </a:p>
          <a:p>
            <a:pPr marL="342900" lvl="0" indent="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4 Personalization and Recommendations</a:t>
            </a:r>
          </a:p>
          <a:p>
            <a:pPr marL="342900" lvl="0" indent="-190500" algn="just">
              <a:spcBef>
                <a:spcPts val="0"/>
              </a:spcBef>
              <a:buNone/>
            </a:pPr>
            <a:endParaRPr lang="en-US" altLang="en-US" sz="18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system will offer personalized suggestions based on visitor preferences, booking history,</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and exhibition popularity. By doing so, it will not only simplify decision-making for visitors</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but also promote specific events and exhibitions effectively.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altLang="en-GB" dirty="0">
                <a:latin typeface="Cambria" panose="02040503050406030204" pitchFamily="18" charset="0"/>
                <a:ea typeface="Cambria" panose="02040503050406030204" pitchFamily="18" charset="0"/>
              </a:rPr>
              <a:t>O</a:t>
            </a:r>
            <a:r>
              <a:rPr lang="en-IN" dirty="0">
                <a:latin typeface="Cambria" panose="02040503050406030204" pitchFamily="18" charset="0"/>
                <a:ea typeface="Cambria" panose="02040503050406030204" pitchFamily="18" charset="0"/>
              </a:rPr>
              <a:t>BJECTIVES</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5 Secure Payment Integration</a:t>
            </a:r>
          </a:p>
          <a:p>
            <a:pPr marL="342900" lvl="0" indent="-19050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To complete the booking cycle, the chatbot will integrate reliable and secure payment</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gateways. This ensures a smooth, contactless, and safe transaction process, reducing manual</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intervention and human error.</a:t>
            </a:r>
          </a:p>
          <a:p>
            <a:pPr marL="342900" lvl="0" indent="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6 Scalability and Performance</a:t>
            </a:r>
          </a:p>
          <a:p>
            <a:pPr marL="342900" lvl="0" indent="-19050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chatbot will be designed to handle high booking volumes during peak hours or special</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events without system breakdowns. This ensures uninterrupted service availability and</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improves operational efficiency for museum management.</a:t>
            </a:r>
          </a:p>
          <a:p>
            <a:pPr marL="342900" lvl="0" indent="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190500" algn="just">
              <a:spcBef>
                <a:spcPts val="0"/>
              </a:spcBef>
              <a:buNone/>
            </a:pPr>
            <a:r>
              <a:rPr lang="en-US" altLang="en-US" sz="1800" b="1" dirty="0">
                <a:latin typeface="Cambria" panose="02040503050406030204" pitchFamily="18" charset="0"/>
                <a:ea typeface="Cambria" panose="02040503050406030204" pitchFamily="18" charset="0"/>
              </a:rPr>
              <a:t>7 Data Analytics for Management</a:t>
            </a:r>
          </a:p>
          <a:p>
            <a:pPr marL="342900" lvl="0" indent="-190500" algn="just">
              <a:spcBef>
                <a:spcPts val="0"/>
              </a:spcBef>
              <a:buNone/>
            </a:pPr>
            <a:endParaRPr lang="en-US" altLang="en-US" sz="18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800" dirty="0">
                <a:latin typeface="Cambria" panose="02040503050406030204" pitchFamily="18" charset="0"/>
                <a:ea typeface="Cambria" panose="02040503050406030204" pitchFamily="18" charset="0"/>
              </a:rPr>
              <a:t>The system will provide museum administrators with real-time analytics, including visitor</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traffic, ticket sales, and peak times. These insights will aid in better planning, resource</a:t>
            </a:r>
            <a:r>
              <a:rPr lang="en-IN" altLang="en-US" sz="1800" dirty="0">
                <a:latin typeface="Cambria" panose="02040503050406030204" pitchFamily="18" charset="0"/>
                <a:ea typeface="Cambria" panose="02040503050406030204" pitchFamily="18" charset="0"/>
              </a:rPr>
              <a:t> </a:t>
            </a:r>
            <a:r>
              <a:rPr lang="en-US" altLang="en-US" sz="1800" dirty="0">
                <a:latin typeface="Cambria" panose="02040503050406030204" pitchFamily="18" charset="0"/>
                <a:ea typeface="Cambria" panose="02040503050406030204" pitchFamily="18" charset="0"/>
              </a:rPr>
              <a:t>allocation, and promotional strategies.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PROPOSED METHODOLOGY &amp; FEASIBILITY STUDY</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0" y="975946"/>
            <a:ext cx="12054254" cy="5120055"/>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methodology section gives a thorough overview on how the AI Chatbot Based Ticketing System is conceived, constructed, and deployed. Data gathering, AI model creation, system architecture, user interface, testing, security, and privacy considerations are all included in the process. Along with comprehensive technical explanations, graphics, and case studies when appropriate, it also covers future directions and procedures for continual improvement</a:t>
            </a:r>
            <a:r>
              <a:rPr lang="en-IN" altLang="en-US" sz="1500" dirty="0">
                <a:latin typeface="Cambria" panose="02040503050406030204" pitchFamily="18" charset="0"/>
                <a:ea typeface="Cambria" panose="02040503050406030204" pitchFamily="18" charset="0"/>
              </a:rPr>
              <a:t>.</a:t>
            </a: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Requirements Gathering and Initial Planning </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1.1. Project Vision and Context</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Problem Identification: </a:t>
            </a:r>
            <a:endParaRPr lang="en-US" altLang="en-US" sz="1500" dirty="0">
              <a:latin typeface="Cambria" panose="02040503050406030204" pitchFamily="18" charset="0"/>
              <a:ea typeface="Cambria" panose="02040503050406030204" pitchFamily="18" charset="0"/>
            </a:endParaRP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1.Manual Ticketing Issues: Traditional ticket counters at museums lead to long queues, delays, and human errors.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2.Visitor Dissatisfaction: Lack of real-time updates and slow processes reduce visitor satisfaction.</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3.Accessibility Challenges: Non-native speakers and differently-abled visitors often struggle with manual or English-only ticketing systems.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4.Operational Burden: Staff must manually manage records, payments, and reservations, which increases workload.</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5.Scalability Issues: Existing systems are not well equipped to handle peak season demands or large events.  </a:t>
            </a:r>
          </a:p>
          <a:p>
            <a:pPr marL="1257300" lvl="2"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Project Scope: </a:t>
            </a:r>
            <a:endParaRPr lang="en-US" altLang="en-US" sz="1500" dirty="0">
              <a:latin typeface="Cambria" panose="02040503050406030204" pitchFamily="18" charset="0"/>
              <a:ea typeface="Cambria" panose="02040503050406030204" pitchFamily="18" charset="0"/>
            </a:endParaRP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1.AI-Powered Chatbot for Visitor Queries – Provides instant responses to FAQs, event schedules, and museum services.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2.Automated Ticket Booking System – Visitors book entry, special exhibitions, and events through a chatbot with instant confirmations.</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3.Personalized Recommendations – AI suggests exhibitions and events based on visitor profiles and booking history.</a:t>
            </a:r>
          </a:p>
          <a:p>
            <a:pPr marL="1257300" lvl="2" indent="0" algn="just">
              <a:spcBef>
                <a:spcPts val="0"/>
              </a:spcBef>
              <a:buNone/>
            </a:pPr>
            <a:r>
              <a:rPr lang="en-US" altLang="en-US" sz="1500" dirty="0">
                <a:latin typeface="Cambria" panose="02040503050406030204" pitchFamily="18" charset="0"/>
                <a:ea typeface="Cambria" panose="02040503050406030204" pitchFamily="18" charset="0"/>
              </a:rPr>
              <a:t>4.Multilingual &amp; Voice Support – Chatbot supports multiple languages and voice commands for inclusivity.</a:t>
            </a:r>
          </a:p>
          <a:p>
            <a:pPr marL="1257300" lvl="2" indent="0" algn="just">
              <a:spcBef>
                <a:spcPts val="0"/>
              </a:spcBef>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PROPOSED METHODOLOGY &amp; FEASIBILITY STUDY</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487485" y="952500"/>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1.2. Feasibility Analysis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514350" lvl="0" indent="-171450" algn="just">
              <a:spcBef>
                <a:spcPts val="0"/>
              </a:spcBef>
            </a:pPr>
            <a:r>
              <a:rPr lang="en-US" altLang="en-US" sz="1500" b="1" dirty="0">
                <a:latin typeface="Cambria" panose="02040503050406030204" pitchFamily="18" charset="0"/>
                <a:ea typeface="Cambria" panose="02040503050406030204" pitchFamily="18" charset="0"/>
              </a:rPr>
              <a:t>Technical viability:</a:t>
            </a:r>
            <a:r>
              <a:rPr lang="en-US" altLang="en-US" sz="1500" dirty="0">
                <a:latin typeface="Cambria" panose="02040503050406030204" pitchFamily="18" charset="0"/>
                <a:ea typeface="Cambria" panose="02040503050406030204" pitchFamily="18" charset="0"/>
              </a:rPr>
              <a:t> The system is based on Flask/Django for backend, React/Flutter for frontend, and MySQL/PostgreSQL for databases. AI chatbot is powered by transformer-based NLP models fine-tuned for visitor queries. Cloud deployment (</a:t>
            </a:r>
            <a:r>
              <a:rPr lang="en-US" altLang="en-US" sz="1500">
                <a:latin typeface="Cambria" panose="02040503050406030204" pitchFamily="18" charset="0"/>
                <a:ea typeface="Cambria" panose="02040503050406030204" pitchFamily="18" charset="0"/>
              </a:rPr>
              <a:t>AWS ) </a:t>
            </a:r>
            <a:r>
              <a:rPr lang="en-US" altLang="en-US" sz="1500" dirty="0">
                <a:latin typeface="Cambria" panose="02040503050406030204" pitchFamily="18" charset="0"/>
                <a:ea typeface="Cambria" panose="02040503050406030204" pitchFamily="18" charset="0"/>
              </a:rPr>
              <a:t>ensures scalability, reliability, and performance.</a:t>
            </a:r>
          </a:p>
          <a:p>
            <a:pPr marL="514350" lvl="0" indent="-171450" algn="just">
              <a:spcBef>
                <a:spcPts val="0"/>
              </a:spcBef>
            </a:pPr>
            <a:endParaRPr lang="en-US" altLang="en-US" sz="1500" dirty="0">
              <a:latin typeface="Cambria" panose="02040503050406030204" pitchFamily="18" charset="0"/>
              <a:ea typeface="Cambria" panose="02040503050406030204" pitchFamily="18" charset="0"/>
            </a:endParaRPr>
          </a:p>
          <a:p>
            <a:pPr marL="514350" lvl="0" indent="-171450" algn="just">
              <a:spcBef>
                <a:spcPts val="0"/>
              </a:spcBef>
            </a:pPr>
            <a:r>
              <a:rPr lang="en-US" altLang="en-US" sz="1500" b="1" dirty="0">
                <a:latin typeface="Cambria" panose="02040503050406030204" pitchFamily="18" charset="0"/>
                <a:ea typeface="Cambria" panose="02040503050406030204" pitchFamily="18" charset="0"/>
              </a:rPr>
              <a:t>Economic viability: </a:t>
            </a:r>
            <a:r>
              <a:rPr lang="en-US" altLang="en-US" sz="1500" dirty="0">
                <a:latin typeface="Cambria" panose="02040503050406030204" pitchFamily="18" charset="0"/>
                <a:ea typeface="Cambria" panose="02040503050406030204" pitchFamily="18" charset="0"/>
              </a:rPr>
              <a:t>Automation reduces operational costs for museums, minimizes manpower, and improves efficiency. Development costs include AI model training, integration with payment gateways, and infrastructure hosting, but long-term benefits include higher visitor satisfaction and revenue.</a:t>
            </a:r>
          </a:p>
          <a:p>
            <a:pPr marL="514350" lvl="0" indent="-171450" algn="just">
              <a:spcBef>
                <a:spcPts val="0"/>
              </a:spcBef>
            </a:pPr>
            <a:endParaRPr lang="en-US" altLang="en-US" sz="1500" dirty="0">
              <a:latin typeface="Cambria" panose="02040503050406030204" pitchFamily="18" charset="0"/>
              <a:ea typeface="Cambria" panose="02040503050406030204" pitchFamily="18" charset="0"/>
            </a:endParaRPr>
          </a:p>
          <a:p>
            <a:pPr marL="514350" lvl="0" indent="-171450" algn="just">
              <a:spcBef>
                <a:spcPts val="0"/>
              </a:spcBef>
            </a:pPr>
            <a:r>
              <a:rPr lang="en-US" altLang="en-US" sz="1500" b="1" dirty="0">
                <a:latin typeface="Cambria" panose="02040503050406030204" pitchFamily="18" charset="0"/>
                <a:ea typeface="Cambria" panose="02040503050406030204" pitchFamily="18" charset="0"/>
              </a:rPr>
              <a:t>Legal Viability:</a:t>
            </a:r>
            <a:r>
              <a:rPr lang="en-US" altLang="en-US" sz="1500" dirty="0">
                <a:latin typeface="Cambria" panose="02040503050406030204" pitchFamily="18" charset="0"/>
                <a:ea typeface="Cambria" panose="02040503050406030204" pitchFamily="18" charset="0"/>
              </a:rPr>
              <a:t> The system complies with GDPR and IT Act regulations for data protection. All user data is stored securely with consent. Compliance with financial transaction standards ensures trustworthy online payments.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 Data Collection, Preprocessing, and Annotation</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2.1. Data Collection</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Data collection is the foundation of the AI-powered ticketing system for museums. High-quality datasets are gathered from multiple sources, including museum FAQs, event guides, and ticketing archives, which contain essential details about exhibitions, pricing, and booking procedures. Visitor interaction data and anonymized chatbot logs are also collected to better understand real-world user queries and behaviors. In addition, open datasets in tourism and cultural heritage are incorporated to enrich the knowledge base with relevant domain-specific information.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PROPOSED METHODOLOGY &amp; FEASIBILITY STUDY</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360485" y="888023"/>
            <a:ext cx="11120315" cy="5207978"/>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700" b="1" dirty="0">
                <a:latin typeface="Cambria" panose="02040503050406030204" pitchFamily="18" charset="0"/>
                <a:ea typeface="Cambria" panose="02040503050406030204" pitchFamily="18" charset="0"/>
              </a:rPr>
              <a:t>2.2. Data Annotation and Labeling</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700" dirty="0">
                <a:latin typeface="Cambria" panose="02040503050406030204" pitchFamily="18" charset="0"/>
                <a:ea typeface="Cambria" panose="02040503050406030204" pitchFamily="18" charset="0"/>
              </a:rPr>
              <a:t>Collected data is annotated to prepare it for training AI models. Visitor queries are labeled according to specific intents such as ticket booking, event information, or refund requests. Entities like exhibition names, dates, times, and visitor categories are extracted and classified to provide structured information for the NLP models. Multilingual intent-response datasets are developed to ensure inclusivity for both local and international visitors. This structured annotation and labeling process enables the system to accurately classify visitor needs and provide precise, context-specific responses.</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700" b="1" dirty="0">
                <a:latin typeface="Cambria" panose="02040503050406030204" pitchFamily="18" charset="0"/>
                <a:ea typeface="Cambria" panose="02040503050406030204" pitchFamily="18" charset="0"/>
              </a:rPr>
              <a:t>2.3 Preprocessing</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700" dirty="0">
                <a:latin typeface="Cambria" panose="02040503050406030204" pitchFamily="18" charset="0"/>
                <a:ea typeface="Cambria" panose="02040503050406030204" pitchFamily="18" charset="0"/>
              </a:rPr>
              <a:t>Before feeding data into the AI models, preprocessing is applied to ensure clean and standardized input. Irrelevant text is removed, and ticket/event formats are normalized for consistency. Tokenization and lemmatization techniques break down visitor queries into machine-readable components while preserving their semantic meaning. Named Entity Recognition (NER) is employed to identify specific elements such as “Modern Art Exhibition – 5 PM.” Vectorization then converts queries into embeddings, making them suitable for intent classification and response generation. This preprocessing pipeline ensures that the AI system can effectively interpret a wide range of visitor queries.</a:t>
            </a: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a:p>
            <a:pPr marL="342900" lvl="0" indent="0" algn="just">
              <a:spcBef>
                <a:spcPts val="0"/>
              </a:spcBef>
              <a:buNone/>
            </a:pPr>
            <a:endParaRPr lang="en-US" altLang="en-US" sz="1700"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ARCHITECTURE DIAGRAM</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endParaRPr lang="en-US" altLang="en-US" sz="1400" dirty="0">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AAA1FC7A-0E06-79F2-C5CD-361B980D5270}"/>
              </a:ext>
            </a:extLst>
          </p:cNvPr>
          <p:cNvPicPr>
            <a:picLocks noChangeAspect="1"/>
          </p:cNvPicPr>
          <p:nvPr/>
        </p:nvPicPr>
        <p:blipFill>
          <a:blip r:embed="rId3"/>
          <a:stretch>
            <a:fillRect/>
          </a:stretch>
        </p:blipFill>
        <p:spPr>
          <a:xfrm>
            <a:off x="812799" y="1011115"/>
            <a:ext cx="10766669" cy="49529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 Overview of the System </a:t>
            </a: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1.1 Frontend Layer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frontend layer of the system emphasizes usability, accessibility, and inclusivity to deliver a seamless ticketing experience across desktop, mobile, and on-site kiosks. The responsive design ensures compatibility with multiple screen sizes and devices, catering to diverse visitors, including tourists, families, and differently-abled individuals.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Users interact with the chatbot through text or voice commands in multiple languages to book tickets, check event schedules, or inquire about museum facilities. The chatbot provides real-time responses, including ticket confirmations, QR codes for entry, and personalized recommendations for exhibitions.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1.2 Backend Layer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backend layer, built using the Flask/Django framework, forms the core of the system, handling business logic, chatbot processing, and integration with external APIs. Core functions include ticket reservation, payment gateway processing, visitor authentication, and real-time availability updates.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At its heart, NLP-driven AI models interpret visitor queries, provide exhibition information, and assist in ticket booking. These models leverage frameworks such as TensorFlow, PyTorch, and Hugging Face Transformers for multilingual understanding and context-aware interactions.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600" b="1" dirty="0">
                <a:latin typeface="Cambria" panose="02040503050406030204" pitchFamily="18" charset="0"/>
                <a:ea typeface="Cambria" panose="02040503050406030204" pitchFamily="18" charset="0"/>
              </a:rPr>
              <a:t>1.3 Data Layer </a:t>
            </a: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The data layer manages structured information such as user registrations, booking details, payment records, QR codes, and visitor queries. A MySQL/PostgreSQL relational database is used for transaction integrity and scalability.</a:t>
            </a:r>
          </a:p>
          <a:p>
            <a:pPr marL="342900" lvl="0" indent="0" algn="just">
              <a:spcBef>
                <a:spcPts val="0"/>
              </a:spcBef>
              <a:buNone/>
            </a:pP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To maintain security and compliance, sensitive data is encrypted at rest using AES-256 and protected during transmission with TLS protocols. Comprehensive audit logging captures all ticketing operations (bookings, cancellations, refunds) for accountability and compliance with tourism and data protection regulations.</a:t>
            </a:r>
          </a:p>
          <a:p>
            <a:pPr marL="342900" lvl="0" indent="0" algn="just">
              <a:spcBef>
                <a:spcPts val="0"/>
              </a:spcBef>
              <a:buNone/>
            </a:pP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b="1" dirty="0">
                <a:latin typeface="Cambria" panose="02040503050406030204" pitchFamily="18" charset="0"/>
                <a:ea typeface="Cambria" panose="02040503050406030204" pitchFamily="18" charset="0"/>
              </a:rPr>
              <a:t>2. Data</a:t>
            </a:r>
            <a:r>
              <a:rPr lang="" altLang="en-US" sz="1600" b="1" dirty="0">
                <a:latin typeface="Cambria" panose="02040503050406030204" pitchFamily="18" charset="0"/>
                <a:ea typeface="Cambria" panose="02040503050406030204" pitchFamily="18" charset="0"/>
              </a:rPr>
              <a:t> </a:t>
            </a:r>
            <a:r>
              <a:rPr lang="en-US" altLang="en-US" sz="1600" b="1" dirty="0">
                <a:latin typeface="Cambria" panose="02040503050406030204" pitchFamily="18" charset="0"/>
                <a:ea typeface="Cambria" panose="02040503050406030204" pitchFamily="18" charset="0"/>
              </a:rPr>
              <a:t>Management</a:t>
            </a:r>
          </a:p>
          <a:p>
            <a:pPr marL="342900" lvl="0" indent="0" algn="just">
              <a:spcBef>
                <a:spcPts val="0"/>
              </a:spcBef>
              <a:buNone/>
            </a:pPr>
            <a:r>
              <a:rPr lang="en-US" altLang="en-US" sz="1600" b="1" dirty="0">
                <a:latin typeface="Cambria" panose="02040503050406030204" pitchFamily="18" charset="0"/>
                <a:ea typeface="Cambria" panose="02040503050406030204" pitchFamily="18" charset="0"/>
              </a:rPr>
              <a:t>2.1 Data Collection</a:t>
            </a: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For training and optimizing chatbot responses, data is collected from museum FAQs, ticketing archives, visitor queries, and open datasets in tourism and cultural heritage. Multilingual conversational corpora are incorporated to support both local and international audiences.</a:t>
            </a:r>
          </a:p>
          <a:p>
            <a:pPr marL="342900" lvl="0" indent="0" algn="just">
              <a:spcBef>
                <a:spcPts val="0"/>
              </a:spcBef>
              <a:buNone/>
            </a:pPr>
            <a:endParaRPr lang="en-US" altLang="en-US" sz="16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Additionally, real-time user interactions (with consent) are anonymized and used to improve chatbot performance, ensuring it adapts to evolving visitor needs. Data collection strictly follows GDPR and Indian IT Act guidelines to ensure privacy and informed consent.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2.2 Preparation </a:t>
            </a: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collected data undergoes a preparation pipeline for chatbot training and response optimization, including: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Cleaning: Removing irrelevant text such as outdated announcements.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Normalization: Standardizing ticket types, exhibition codes, and event metadata.</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Anonymization: Masking personal identifiers like phone numbers and payment details.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Tokenization &amp; Lemmatization: Processing multilingual visitor queries for better NLP interpretation.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Entity Recognition: Identifying key entities such as exhibition names, dates, times, and visitor categories.</a:t>
            </a:r>
          </a:p>
          <a:p>
            <a:pPr marL="628650" lvl="0" indent="-285750" algn="just">
              <a:spcBef>
                <a:spcPts val="0"/>
              </a:spcBef>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preprocessing ensures that the chatbot generates accurate, relevant, and context-aware responses.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 AI Model Development </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3.1 Choosing a Model </a:t>
            </a: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To address the diverse tasks in museum ticketing and visitor support, a combination of AI models is used:</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Transformer-based GPT/NLP models: For natural conversations, ticket inquiries, and event information.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Classification models (SVM, Random Forest): To categorize visitor intents (e.g., booking tickets, refund queries, exhibition info).</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Named Entity Recognition (NER): To extract structured details like exhibition names, ticket types, or dates.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Recommendation models: To suggest exhibitions or events based on visitor profiles and history.</a:t>
            </a:r>
          </a:p>
          <a:p>
            <a:pPr marL="628650" lvl="0" indent="-285750" algn="just">
              <a:spcBef>
                <a:spcPts val="0"/>
              </a:spcBef>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multi-model approach ensures adaptability, personalization, and reliable visitor interaction.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3.2 Optimization and Training</a:t>
            </a: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Training uses museum-specific datasets, tourism FAQs, and anonymized visitor interactions. Data is split into training, validation, and testing sets for robust evaluation.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Regularization techniques like Dropout prevent overfitting.</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Cross-validation ensures performance across different query types.</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Hyperparameter tuning (grid search, Bayesian optimization) optimizes model performance.</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Optimizers like Adam are applied for faster convergence.</a:t>
            </a: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This pipeline produces well-generalized models capable of handling diverse visitor scenarios.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3.3 Metrics for Evaluation </a:t>
            </a: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Different metrics are applied depending on the chatbot tasks: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Precision, Recall, F1-Score: For intent detection and classification accuracy.</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BLEU &amp; ROUGE scores: For evaluating conversational response quality.</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Confusion matrices &amp; accuracy: For ticket category classification.</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Mean Reciprocal Rank (MRR) &amp; NDCG: For recommendation relevance.</a:t>
            </a:r>
          </a:p>
          <a:p>
            <a:pPr marL="628650" lvl="0" indent="-285750" algn="just">
              <a:spcBef>
                <a:spcPts val="0"/>
              </a:spcBef>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These metrics ensure high-quality, contextually accurate chatbot performance.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MODULES</a:t>
            </a:r>
            <a:r>
              <a:rPr lang="en-IN" altLang="en-US" dirty="0">
                <a:latin typeface="Cambria" panose="02040503050406030204" pitchFamily="18" charset="0"/>
                <a:ea typeface="Cambria" panose="02040503050406030204" pitchFamily="18" charset="0"/>
              </a:rPr>
              <a:t>:</a:t>
            </a:r>
          </a:p>
        </p:txBody>
      </p:sp>
      <p:sp>
        <p:nvSpPr>
          <p:cNvPr id="97" name="Google Shape;97;p14"/>
          <p:cNvSpPr txBox="1">
            <a:spLocks noGrp="1"/>
          </p:cNvSpPr>
          <p:nvPr>
            <p:ph type="body" idx="1"/>
          </p:nvPr>
        </p:nvSpPr>
        <p:spPr>
          <a:xfrm>
            <a:off x="812800" y="1054100"/>
            <a:ext cx="10668000" cy="5324475"/>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 Implementation Details</a:t>
            </a: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4.1 Voice-Activated Interface</a:t>
            </a:r>
            <a:r>
              <a:rPr lang="en-US" altLang="en-US" sz="1500" dirty="0">
                <a:latin typeface="Cambria" panose="02040503050406030204" pitchFamily="18" charset="0"/>
                <a:ea typeface="Cambria" panose="02040503050406030204" pitchFamily="18" charset="0"/>
              </a:rPr>
              <a:t>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system supports voice-enabled ticket booking and inquiry, using Speech-to-Text APIs (Google Speech, Azure Cognitive Services). Visitors can request tickets, ask about exhibitions, or confirm reservations using natural speech in multiple languages. Text-to-Speech functionality allows the chatbot to read out confirmations and exhibition details, improving accessibility for visually impaired users or non-digital-native visitors.</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4.2 Integration with the Cloud</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The platform is deployed on scalable cloud infrastructure (AWS/Azure) with auto-scaling and load balancing to ensure smooth performance during peak seasons. Disaster recovery measures include automated backups, replication across regions, and failover support. </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b="1" dirty="0">
                <a:latin typeface="Cambria" panose="02040503050406030204" pitchFamily="18" charset="0"/>
                <a:ea typeface="Cambria" panose="02040503050406030204" pitchFamily="18" charset="0"/>
              </a:rPr>
              <a:t>4.3 Security Measure</a:t>
            </a:r>
          </a:p>
          <a:p>
            <a:pPr marL="342900" lvl="0" indent="0" algn="just">
              <a:spcBef>
                <a:spcPts val="0"/>
              </a:spcBef>
              <a:buNone/>
            </a:pPr>
            <a:endParaRPr lang="en-US" altLang="en-US" sz="1500" b="1"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500" dirty="0">
                <a:latin typeface="Cambria" panose="02040503050406030204" pitchFamily="18" charset="0"/>
                <a:ea typeface="Cambria" panose="02040503050406030204" pitchFamily="18" charset="0"/>
              </a:rPr>
              <a:t>To safeguard visitor and transaction data:</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AES-256 encryption secures data at rest.</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TLS 1.3 secures communication in transit.</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Role-Based Access Control (RBAC) limits sensitive data access to authorized museum staff.</a:t>
            </a:r>
          </a:p>
          <a:p>
            <a:pPr marL="1085850" lvl="1" indent="-285750" algn="just">
              <a:spcBef>
                <a:spcPts val="0"/>
              </a:spcBef>
              <a:buFont typeface="Arial" panose="020B0604020202020204" pitchFamily="34" charset="0"/>
              <a:buChar char="•"/>
            </a:pPr>
            <a:r>
              <a:rPr lang="en-US" altLang="en-US" sz="1500" dirty="0">
                <a:latin typeface="Cambria" panose="02040503050406030204" pitchFamily="18" charset="0"/>
                <a:ea typeface="Cambria" panose="02040503050406030204" pitchFamily="18" charset="0"/>
              </a:rPr>
              <a:t>Threat monitoring and audit logs provide real-time security alerts and regulatory compliance.</a:t>
            </a: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A3776CB-741C-C743-628D-88C87D87F76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77809CEE-ABE3-EDF2-587D-B64D954D506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ltLang="en-US" dirty="0">
                <a:latin typeface="Cambria" panose="02040503050406030204" pitchFamily="18" charset="0"/>
                <a:ea typeface="Cambria" panose="02040503050406030204" pitchFamily="18" charset="0"/>
              </a:rPr>
              <a:t>Git-Hub Link</a:t>
            </a:r>
            <a:endParaRPr lang="en-IN" altLang="en-US"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8F07C477-208A-5A54-1AC4-E24F81BCC86F}"/>
              </a:ext>
            </a:extLst>
          </p:cNvPr>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endParaRPr lang="en-US" altLang="en-US" sz="1500" dirty="0">
              <a:latin typeface="Cambria" panose="02040503050406030204" pitchFamily="18" charset="0"/>
              <a:ea typeface="Cambria" panose="02040503050406030204" pitchFamily="18" charset="0"/>
            </a:endParaRPr>
          </a:p>
          <a:p>
            <a:pPr marL="342900" lvl="0" indent="0" algn="just">
              <a:spcBef>
                <a:spcPts val="0"/>
              </a:spcBef>
              <a:buNone/>
            </a:pPr>
            <a:r>
              <a:rPr lang="en-US" altLang="en-US" sz="1600" dirty="0">
                <a:latin typeface="Cambria" panose="02040503050406030204" pitchFamily="18" charset="0"/>
                <a:ea typeface="Cambria" panose="02040503050406030204" pitchFamily="18" charset="0"/>
              </a:rPr>
              <a:t>Git-Hub Link:- </a:t>
            </a:r>
            <a:r>
              <a:rPr lang="en-US" altLang="en-US" sz="1600" dirty="0">
                <a:latin typeface="Cambria" panose="02040503050406030204" pitchFamily="18" charset="0"/>
                <a:ea typeface="Cambria" panose="02040503050406030204" pitchFamily="18" charset="0"/>
                <a:hlinkClick r:id="rId3"/>
              </a:rPr>
              <a:t>https://github.com/ISE-45/PSCS-481-Online-Chatbot-Based-Ticketing-System</a:t>
            </a:r>
            <a:endParaRPr lang="en-US" altLang="en-US"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8228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C0875-4A70-DFCB-03E8-753E1E237D0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Screenshots</a:t>
            </a:r>
          </a:p>
        </p:txBody>
      </p:sp>
      <p:pic>
        <p:nvPicPr>
          <p:cNvPr id="4" name="Picture 3">
            <a:extLst>
              <a:ext uri="{FF2B5EF4-FFF2-40B4-BE49-F238E27FC236}">
                <a16:creationId xmlns:a16="http://schemas.microsoft.com/office/drawing/2014/main" id="{D5D8FCCD-834F-720B-CC5F-82D8BE4AB725}"/>
              </a:ext>
            </a:extLst>
          </p:cNvPr>
          <p:cNvPicPr/>
          <p:nvPr/>
        </p:nvPicPr>
        <p:blipFill>
          <a:blip r:embed="rId2"/>
          <a:stretch>
            <a:fillRect/>
          </a:stretch>
        </p:blipFill>
        <p:spPr>
          <a:xfrm>
            <a:off x="5905038" y="1880754"/>
            <a:ext cx="5669280" cy="3325091"/>
          </a:xfrm>
          <a:prstGeom prst="rect">
            <a:avLst/>
          </a:prstGeom>
        </p:spPr>
      </p:pic>
      <p:sp>
        <p:nvSpPr>
          <p:cNvPr id="8" name="TextBox 7">
            <a:extLst>
              <a:ext uri="{FF2B5EF4-FFF2-40B4-BE49-F238E27FC236}">
                <a16:creationId xmlns:a16="http://schemas.microsoft.com/office/drawing/2014/main" id="{799052A2-F1CC-5FEB-27FB-C405085C5D36}"/>
              </a:ext>
            </a:extLst>
          </p:cNvPr>
          <p:cNvSpPr txBox="1"/>
          <p:nvPr/>
        </p:nvSpPr>
        <p:spPr>
          <a:xfrm>
            <a:off x="711200" y="1506682"/>
            <a:ext cx="4998720" cy="409342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figure  represents the home page user interface of an AI-based museum tickets and visitor assistance system, to illustrate how digital integration converges with cultural heritage. In the foreground, we observe a detailed copy of a human hand from The Carracci Drawings as well, symbolizing the museum’s commitment to preserving classical art through contemporary methods. This easy and clear layout makes the visitator focused both on the works and on the main exhibition information.</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2828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8D79D-26EF-6902-4A2F-5B6342329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34EF8-D55C-C314-07D4-F36F39257C0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Screenshots</a:t>
            </a:r>
          </a:p>
        </p:txBody>
      </p:sp>
      <p:sp>
        <p:nvSpPr>
          <p:cNvPr id="8" name="TextBox 7">
            <a:extLst>
              <a:ext uri="{FF2B5EF4-FFF2-40B4-BE49-F238E27FC236}">
                <a16:creationId xmlns:a16="http://schemas.microsoft.com/office/drawing/2014/main" id="{F0790FB9-F98A-8813-C452-33D5B63BDD9C}"/>
              </a:ext>
            </a:extLst>
          </p:cNvPr>
          <p:cNvSpPr txBox="1"/>
          <p:nvPr/>
        </p:nvSpPr>
        <p:spPr>
          <a:xfrm>
            <a:off x="711200" y="1381991"/>
            <a:ext cx="4998720" cy="409342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As seen on the  "Now Showing" page of the museum's AI blank ticketing site, displaying current exhibitions in a clean and compelling fashion style. The front of each exhibition card features a </a:t>
            </a:r>
            <a:r>
              <a:rPr lang="en-IN" sz="2000" dirty="0">
                <a:latin typeface="Times New Roman" panose="02020603050405020304" pitchFamily="18" charset="0"/>
                <a:cs typeface="Times New Roman" panose="02020603050405020304" pitchFamily="18" charset="0"/>
              </a:rPr>
              <a:t>mesmerising</a:t>
            </a:r>
            <a:r>
              <a:rPr lang="en-US" sz="2000" dirty="0">
                <a:latin typeface="Times New Roman" panose="02020603050405020304" pitchFamily="18" charset="0"/>
                <a:cs typeface="Times New Roman" panose="02020603050405020304" pitchFamily="18" charset="0"/>
              </a:rPr>
              <a:t> show image, dates and category where potential visitors can at an instant see what the show is all about and hence why it should not to be missed. There are big “Buy Tickets” buttons to facilitate quick, frictionless, get-your-GO-oriented booking on the spot: part of what the system is trying to do — eliminate long lines and cumbersome visitor experience</a:t>
            </a:r>
          </a:p>
        </p:txBody>
      </p:sp>
      <p:pic>
        <p:nvPicPr>
          <p:cNvPr id="5" name="Picture 4">
            <a:extLst>
              <a:ext uri="{FF2B5EF4-FFF2-40B4-BE49-F238E27FC236}">
                <a16:creationId xmlns:a16="http://schemas.microsoft.com/office/drawing/2014/main" id="{00E49308-6B3E-9CAA-A3E2-5BE788DCB5E7}"/>
              </a:ext>
            </a:extLst>
          </p:cNvPr>
          <p:cNvPicPr>
            <a:picLocks noChangeAspect="1"/>
          </p:cNvPicPr>
          <p:nvPr/>
        </p:nvPicPr>
        <p:blipFill>
          <a:blip r:embed="rId2"/>
          <a:stretch>
            <a:fillRect/>
          </a:stretch>
        </p:blipFill>
        <p:spPr>
          <a:xfrm>
            <a:off x="5811029" y="1994801"/>
            <a:ext cx="5669771" cy="3262999"/>
          </a:xfrm>
          <a:prstGeom prst="rect">
            <a:avLst/>
          </a:prstGeom>
        </p:spPr>
      </p:pic>
    </p:spTree>
    <p:extLst>
      <p:ext uri="{BB962C8B-B14F-4D97-AF65-F5344CB8AC3E}">
        <p14:creationId xmlns:p14="http://schemas.microsoft.com/office/powerpoint/2010/main" val="2132919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B4A89-C1C9-1B2D-D89A-9BB241DA9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83F50-79A0-3A22-A0E4-D6B548DECE4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Screenshots</a:t>
            </a:r>
          </a:p>
        </p:txBody>
      </p:sp>
      <p:sp>
        <p:nvSpPr>
          <p:cNvPr id="8" name="TextBox 7">
            <a:extLst>
              <a:ext uri="{FF2B5EF4-FFF2-40B4-BE49-F238E27FC236}">
                <a16:creationId xmlns:a16="http://schemas.microsoft.com/office/drawing/2014/main" id="{CEF2B549-B05D-0EF2-285E-FB547BF316B7}"/>
              </a:ext>
            </a:extLst>
          </p:cNvPr>
          <p:cNvSpPr txBox="1"/>
          <p:nvPr/>
        </p:nvSpPr>
        <p:spPr>
          <a:xfrm>
            <a:off x="544945" y="1548246"/>
            <a:ext cx="4998720" cy="347787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As shown in the Figure, The Booking Page the Booking Page has an unobtrusive/simple design where the visitor can easily finalize their ticket amount and proceed to payment as seen in the figure above. Customers can easily choose their preferred time slot and enter both number of adults/children attending with the system calculating the total bill for them. The crisp design, contained in a centered card, helps users stay on task and lightens cognitive load</a:t>
            </a:r>
          </a:p>
        </p:txBody>
      </p:sp>
      <p:pic>
        <p:nvPicPr>
          <p:cNvPr id="3" name="Picture 2">
            <a:extLst>
              <a:ext uri="{FF2B5EF4-FFF2-40B4-BE49-F238E27FC236}">
                <a16:creationId xmlns:a16="http://schemas.microsoft.com/office/drawing/2014/main" id="{C0F5E80D-91BD-3DCF-66E9-77204B28753A}"/>
              </a:ext>
            </a:extLst>
          </p:cNvPr>
          <p:cNvPicPr>
            <a:picLocks noChangeAspect="1"/>
          </p:cNvPicPr>
          <p:nvPr/>
        </p:nvPicPr>
        <p:blipFill>
          <a:blip r:embed="rId2"/>
          <a:stretch>
            <a:fillRect/>
          </a:stretch>
        </p:blipFill>
        <p:spPr>
          <a:xfrm>
            <a:off x="5811029" y="1912094"/>
            <a:ext cx="5669771" cy="3189841"/>
          </a:xfrm>
          <a:prstGeom prst="rect">
            <a:avLst/>
          </a:prstGeom>
        </p:spPr>
      </p:pic>
    </p:spTree>
    <p:extLst>
      <p:ext uri="{BB962C8B-B14F-4D97-AF65-F5344CB8AC3E}">
        <p14:creationId xmlns:p14="http://schemas.microsoft.com/office/powerpoint/2010/main" val="3630338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7C4C-7E71-E627-38F2-388885DD0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B3758-8959-CFA4-523A-868DA182FB2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Screenshots</a:t>
            </a:r>
          </a:p>
        </p:txBody>
      </p:sp>
      <p:sp>
        <p:nvSpPr>
          <p:cNvPr id="8" name="TextBox 7">
            <a:extLst>
              <a:ext uri="{FF2B5EF4-FFF2-40B4-BE49-F238E27FC236}">
                <a16:creationId xmlns:a16="http://schemas.microsoft.com/office/drawing/2014/main" id="{6D24B483-E3BA-4072-5422-9854EACC6999}"/>
              </a:ext>
            </a:extLst>
          </p:cNvPr>
          <p:cNvSpPr txBox="1"/>
          <p:nvPr/>
        </p:nvSpPr>
        <p:spPr>
          <a:xfrm>
            <a:off x="524164" y="1839192"/>
            <a:ext cx="4998720" cy="286232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Payment Page The secure and well-designed interface for customers to complete the last step of ticket booking. Users can select their preferred currency, compare ticket cost and enter crucial payment information such as email ID, card numbers and billing regions. The 'Pay with Link' alongside standard 'Pay' button as easy and use wherever you can purchase goods, works or services on line. </a:t>
            </a:r>
          </a:p>
        </p:txBody>
      </p:sp>
      <p:pic>
        <p:nvPicPr>
          <p:cNvPr id="5" name="Picture 4">
            <a:extLst>
              <a:ext uri="{FF2B5EF4-FFF2-40B4-BE49-F238E27FC236}">
                <a16:creationId xmlns:a16="http://schemas.microsoft.com/office/drawing/2014/main" id="{9ECCF3F9-66E7-FCDC-76CA-E08220A5661E}"/>
              </a:ext>
            </a:extLst>
          </p:cNvPr>
          <p:cNvPicPr>
            <a:picLocks noChangeAspect="1"/>
          </p:cNvPicPr>
          <p:nvPr/>
        </p:nvPicPr>
        <p:blipFill>
          <a:blip r:embed="rId2"/>
          <a:stretch>
            <a:fillRect/>
          </a:stretch>
        </p:blipFill>
        <p:spPr>
          <a:xfrm>
            <a:off x="5713369" y="2099957"/>
            <a:ext cx="5669771" cy="3209798"/>
          </a:xfrm>
          <a:prstGeom prst="rect">
            <a:avLst/>
          </a:prstGeom>
        </p:spPr>
      </p:pic>
    </p:spTree>
    <p:extLst>
      <p:ext uri="{BB962C8B-B14F-4D97-AF65-F5344CB8AC3E}">
        <p14:creationId xmlns:p14="http://schemas.microsoft.com/office/powerpoint/2010/main" val="4049955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86AE8-D574-FD56-E239-63ACCBD1D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203A9-4C4B-E474-DE24-4035EA05613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Screenshots</a:t>
            </a:r>
          </a:p>
        </p:txBody>
      </p:sp>
      <p:sp>
        <p:nvSpPr>
          <p:cNvPr id="8" name="TextBox 7">
            <a:extLst>
              <a:ext uri="{FF2B5EF4-FFF2-40B4-BE49-F238E27FC236}">
                <a16:creationId xmlns:a16="http://schemas.microsoft.com/office/drawing/2014/main" id="{2B346CC6-84F8-0720-0781-2956BD15C770}"/>
              </a:ext>
            </a:extLst>
          </p:cNvPr>
          <p:cNvSpPr txBox="1"/>
          <p:nvPr/>
        </p:nvSpPr>
        <p:spPr>
          <a:xfrm>
            <a:off x="534554" y="1460300"/>
            <a:ext cx="4998720" cy="409342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Data- cloaking Admin Home Page This view displays the primary functional elements that are intended to be available for administrators in a museum context. The dashboard shows important information such as total revenue, bookings and their ratio or the adult/child guest count. This streamlined set-up makes it easy for administrators to see live how their visitors are interacting and booking online. An additional left-hand sidebar navigation also allows easy access to show management and booking lists, enabling an efficient working process. </a:t>
            </a:r>
          </a:p>
        </p:txBody>
      </p:sp>
      <p:pic>
        <p:nvPicPr>
          <p:cNvPr id="5" name="Picture 4">
            <a:extLst>
              <a:ext uri="{FF2B5EF4-FFF2-40B4-BE49-F238E27FC236}">
                <a16:creationId xmlns:a16="http://schemas.microsoft.com/office/drawing/2014/main" id="{6E4F2113-F643-3A67-4ACA-8FBF727FE6B8}"/>
              </a:ext>
            </a:extLst>
          </p:cNvPr>
          <p:cNvPicPr/>
          <p:nvPr/>
        </p:nvPicPr>
        <p:blipFill>
          <a:blip r:embed="rId2"/>
          <a:stretch>
            <a:fillRect/>
          </a:stretch>
        </p:blipFill>
        <p:spPr>
          <a:xfrm>
            <a:off x="5703223" y="1745673"/>
            <a:ext cx="5669280" cy="3106882"/>
          </a:xfrm>
          <a:prstGeom prst="rect">
            <a:avLst/>
          </a:prstGeom>
        </p:spPr>
      </p:pic>
    </p:spTree>
    <p:extLst>
      <p:ext uri="{BB962C8B-B14F-4D97-AF65-F5344CB8AC3E}">
        <p14:creationId xmlns:p14="http://schemas.microsoft.com/office/powerpoint/2010/main" val="909961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54794-27A1-F624-D4B6-63550B6F8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79075-3B62-6074-E238-4955EF3ED8D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Screenshots</a:t>
            </a:r>
          </a:p>
        </p:txBody>
      </p:sp>
      <p:sp>
        <p:nvSpPr>
          <p:cNvPr id="8" name="TextBox 7">
            <a:extLst>
              <a:ext uri="{FF2B5EF4-FFF2-40B4-BE49-F238E27FC236}">
                <a16:creationId xmlns:a16="http://schemas.microsoft.com/office/drawing/2014/main" id="{D2D23B64-6103-0B7F-CB63-AE2C091995DE}"/>
              </a:ext>
            </a:extLst>
          </p:cNvPr>
          <p:cNvSpPr txBox="1"/>
          <p:nvPr/>
        </p:nvSpPr>
        <p:spPr>
          <a:xfrm>
            <a:off x="534554" y="1854560"/>
            <a:ext cx="4998720" cy="347787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AI Chat-Bot Tickets Booking interface indicates that the system offers an interactive and conversational way to browse through museum shows. The chatbot is accessible directly from the exhibition home page, so users instantly get a list of available shows and dates as well as visitor information via plain text interaction. The bot gives a brief list of some options, just in time Modern Indian Sculpture and Show dates / Ticket categories show us that we cannot get long lists back. </a:t>
            </a:r>
          </a:p>
        </p:txBody>
      </p:sp>
      <p:pic>
        <p:nvPicPr>
          <p:cNvPr id="3" name="Picture 2">
            <a:extLst>
              <a:ext uri="{FF2B5EF4-FFF2-40B4-BE49-F238E27FC236}">
                <a16:creationId xmlns:a16="http://schemas.microsoft.com/office/drawing/2014/main" id="{212C1FA9-C695-0AA2-8AE3-6573BCB15E51}"/>
              </a:ext>
            </a:extLst>
          </p:cNvPr>
          <p:cNvPicPr>
            <a:picLocks noChangeAspect="1"/>
          </p:cNvPicPr>
          <p:nvPr/>
        </p:nvPicPr>
        <p:blipFill>
          <a:blip r:embed="rId2"/>
          <a:stretch>
            <a:fillRect/>
          </a:stretch>
        </p:blipFill>
        <p:spPr>
          <a:xfrm>
            <a:off x="5692587" y="1941045"/>
            <a:ext cx="5669771" cy="3304907"/>
          </a:xfrm>
          <a:prstGeom prst="rect">
            <a:avLst/>
          </a:prstGeom>
        </p:spPr>
      </p:pic>
    </p:spTree>
    <p:extLst>
      <p:ext uri="{BB962C8B-B14F-4D97-AF65-F5344CB8AC3E}">
        <p14:creationId xmlns:p14="http://schemas.microsoft.com/office/powerpoint/2010/main" val="2727974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a:t>
            </a:r>
            <a:r>
              <a:rPr lang="en-IN" altLang="en-GB" dirty="0">
                <a:latin typeface="Cambria" panose="02040503050406030204" pitchFamily="18" charset="0"/>
                <a:ea typeface="Cambria" panose="02040503050406030204" pitchFamily="18" charset="0"/>
              </a:rPr>
              <a:t>IMELINE OF THE PROJECT</a:t>
            </a:r>
            <a:r>
              <a:rPr lang="en-GB" dirty="0">
                <a:latin typeface="Cambria" panose="02040503050406030204" pitchFamily="18" charset="0"/>
                <a:ea typeface="Cambria" panose="02040503050406030204" pitchFamily="18" charset="0"/>
              </a:rPr>
              <a: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480820"/>
            <a:ext cx="10668000" cy="222758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IN" sz="1600" dirty="0">
              <a:latin typeface="Cambria" panose="02040503050406030204" pitchFamily="18" charset="0"/>
              <a:ea typeface="Cambria" panose="02040503050406030204" pitchFamily="18" charset="0"/>
            </a:endParaRPr>
          </a:p>
        </p:txBody>
      </p:sp>
      <p:pic>
        <p:nvPicPr>
          <p:cNvPr id="2" name="Picture 1" descr="Gnatt Chart"/>
          <p:cNvPicPr>
            <a:picLocks noChangeAspect="1"/>
          </p:cNvPicPr>
          <p:nvPr/>
        </p:nvPicPr>
        <p:blipFill>
          <a:blip r:embed="rId3"/>
          <a:stretch>
            <a:fillRect/>
          </a:stretch>
        </p:blipFill>
        <p:spPr>
          <a:xfrm>
            <a:off x="758825" y="1188085"/>
            <a:ext cx="10721975" cy="2520315"/>
          </a:xfrm>
          <a:prstGeom prst="rect">
            <a:avLst/>
          </a:prstGeom>
        </p:spPr>
      </p:pic>
      <p:sp>
        <p:nvSpPr>
          <p:cNvPr id="3" name="Text Box 2"/>
          <p:cNvSpPr txBox="1"/>
          <p:nvPr/>
        </p:nvSpPr>
        <p:spPr>
          <a:xfrm>
            <a:off x="1858645" y="3930015"/>
            <a:ext cx="8576310" cy="1789430"/>
          </a:xfrm>
          <a:prstGeom prst="rect">
            <a:avLst/>
          </a:prstGeom>
          <a:noFill/>
        </p:spPr>
        <p:txBody>
          <a:bodyPr wrap="square" rtlCol="0">
            <a:noAutofit/>
          </a:bodyPr>
          <a:lstStyle/>
          <a:p>
            <a:endParaRPr lang="en-US"/>
          </a:p>
        </p:txBody>
      </p:sp>
      <p:graphicFrame>
        <p:nvGraphicFramePr>
          <p:cNvPr id="4" name="Table 3"/>
          <p:cNvGraphicFramePr/>
          <p:nvPr/>
        </p:nvGraphicFramePr>
        <p:xfrm>
          <a:off x="2809240" y="4038790"/>
          <a:ext cx="5803265" cy="1571625"/>
        </p:xfrm>
        <a:graphic>
          <a:graphicData uri="http://schemas.openxmlformats.org/drawingml/2006/table">
            <a:tbl>
              <a:tblPr/>
              <a:tblGrid>
                <a:gridCol w="3337560">
                  <a:extLst>
                    <a:ext uri="{9D8B030D-6E8A-4147-A177-3AD203B41FA5}">
                      <a16:colId xmlns:a16="http://schemas.microsoft.com/office/drawing/2014/main" val="20000"/>
                    </a:ext>
                  </a:extLst>
                </a:gridCol>
                <a:gridCol w="2465705">
                  <a:extLst>
                    <a:ext uri="{9D8B030D-6E8A-4147-A177-3AD203B41FA5}">
                      <a16:colId xmlns:a16="http://schemas.microsoft.com/office/drawing/2014/main" val="20001"/>
                    </a:ext>
                  </a:extLst>
                </a:gridCol>
              </a:tblGrid>
              <a:tr h="356870">
                <a:tc>
                  <a:txBody>
                    <a:bodyPr/>
                    <a:lstStyle/>
                    <a:p>
                      <a:pPr marL="0" indent="0" algn="ctr">
                        <a:spcBef>
                          <a:spcPct val="0"/>
                        </a:spcBef>
                        <a:spcAft>
                          <a:spcPct val="0"/>
                        </a:spcAft>
                      </a:pPr>
                      <a:r>
                        <a:rPr lang="en-US" altLang="zh-CN" sz="1100" b="1">
                          <a:latin typeface="Times New Roman" panose="02020603050405020304"/>
                          <a:ea typeface="Times New Roman" panose="02020603050405020304"/>
                        </a:rPr>
                        <a:t>Phase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100" b="1">
                          <a:latin typeface="Times New Roman" panose="02020603050405020304"/>
                          <a:ea typeface="Times New Roman" panose="02020603050405020304"/>
                        </a:rPr>
                        <a:t>Timeline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Planning and Requirement Gathering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Jul 21 - Jul 25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Desgin</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Jul 28 - Aug 1</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173990">
                <a:tc>
                  <a:txBody>
                    <a:bodyPr/>
                    <a:lstStyle/>
                    <a:p>
                      <a:pPr marL="0" indent="0">
                        <a:spcBef>
                          <a:spcPct val="0"/>
                        </a:spcBef>
                        <a:spcAft>
                          <a:spcPct val="0"/>
                        </a:spcAft>
                      </a:pPr>
                      <a:r>
                        <a:rPr lang="en-US" altLang="zh-CN" sz="1100">
                          <a:latin typeface="Times New Roman" panose="02020603050405020304"/>
                          <a:ea typeface="Times New Roman" panose="02020603050405020304"/>
                        </a:rPr>
                        <a:t>System Architecture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Aug 4 - Aug 15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Frontend Development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Aug 18 - Sep 5</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Backend Development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Sep 8 - Sep 26</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173990">
                <a:tc>
                  <a:txBody>
                    <a:bodyPr/>
                    <a:lstStyle/>
                    <a:p>
                      <a:pPr marL="0" indent="0">
                        <a:spcBef>
                          <a:spcPct val="0"/>
                        </a:spcBef>
                        <a:spcAft>
                          <a:spcPct val="0"/>
                        </a:spcAft>
                      </a:pPr>
                      <a:r>
                        <a:rPr lang="en-US" altLang="zh-CN" sz="1100">
                          <a:latin typeface="Times New Roman" panose="02020603050405020304"/>
                          <a:ea typeface="Times New Roman" panose="02020603050405020304"/>
                        </a:rPr>
                        <a:t>AI and  NLP Integration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Sep 29 - Oct 17</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r h="173355">
                <a:tc>
                  <a:txBody>
                    <a:bodyPr/>
                    <a:lstStyle/>
                    <a:p>
                      <a:pPr marL="0" indent="0">
                        <a:spcBef>
                          <a:spcPct val="0"/>
                        </a:spcBef>
                        <a:spcAft>
                          <a:spcPct val="0"/>
                        </a:spcAft>
                      </a:pPr>
                      <a:r>
                        <a:rPr lang="en-US" altLang="zh-CN" sz="1100">
                          <a:latin typeface="Times New Roman" panose="02020603050405020304"/>
                          <a:ea typeface="Times New Roman" panose="02020603050405020304"/>
                        </a:rPr>
                        <a:t>Testing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spcBef>
                          <a:spcPct val="0"/>
                        </a:spcBef>
                        <a:spcAft>
                          <a:spcPct val="0"/>
                        </a:spcAft>
                      </a:pPr>
                      <a:r>
                        <a:rPr lang="en-US" altLang="zh-CN" sz="1100">
                          <a:latin typeface="Times New Roman" panose="02020603050405020304"/>
                          <a:ea typeface="Times New Roman" panose="02020603050405020304"/>
                        </a:rPr>
                        <a:t>Oct 20 - Oct 31</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 Basha, M.S.B. (2025) ‘Online Chatbot Based Ticketing System for Museums Using ...’, Vol. 22, No. 2, pp. 41–60</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[2]. IJIRT (2025) ‘Online Chatbot Ticketing Based System’, IJIRT Journal, Vol. 11, No. 5, pp. 250–264.</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[3]. IJCRT (2025) ‘Museum Chatbot Ticketing System: An AI-Driven Approach’, IJCRT Journal, Vol. 13, No. 4, pp. 98–115.</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[4]. IRE Journals (2025) ‘Online Chatbot Based Ticketing System’, IRE Journals, Vol. 9, No. 6, pp. 72–85.</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[5]. IRJMETS (2025) ‘Chatbot Based Ticketing System for Museum’, IRJMETS Journal, Vol. 5, No. 2, pp. 140–159.</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[6]. Schäffer, J. (2024) ‘Chatbot in the Museum – A Field Study of User Experience (Städel Museum)’ Vol. 18, No. 1, pp. 120–145.,</a:t>
            </a: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 </a:t>
            </a: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[7]. Wang, Y. (2024) ‘Enhancing Art Museum Experience With a Chatbot Tour Guide’ Vol. 15, No. 4, pp. 110–132.</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[8].  Fabbri, R., et al. (2023) ‘AI and Chatbots as a Storytelling Tool to Personalize the Visitor Experience’, Vol. 3, No.1, pp. 221–239.</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[9]. </a:t>
            </a:r>
            <a:r>
              <a:rPr lang="en-US" altLang="en-US" sz="1500" dirty="0" err="1">
                <a:latin typeface="Verdana" panose="020B0604030504040204" charset="0"/>
                <a:ea typeface="Cambria" panose="02040503050406030204" pitchFamily="18" charset="0"/>
                <a:cs typeface="Verdana" panose="020B0604030504040204" charset="0"/>
              </a:rPr>
              <a:t>Tsitseklis</a:t>
            </a:r>
            <a:r>
              <a:rPr lang="en-US" altLang="en-US" sz="1500" dirty="0">
                <a:latin typeface="Verdana" panose="020B0604030504040204" charset="0"/>
                <a:ea typeface="Cambria" panose="02040503050406030204" pitchFamily="18" charset="0"/>
                <a:cs typeface="Verdana" panose="020B0604030504040204" charset="0"/>
              </a:rPr>
              <a:t>, S., et al. (2023) ‘RECBOT: Virtual Museum Navigation Through a Chatbot Assistant and Personalized Recommendations’, Journal of Cultural Heritage Technology, </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[10]. </a:t>
            </a:r>
            <a:r>
              <a:rPr lang="en-US" altLang="en-US" sz="1500" dirty="0" err="1">
                <a:latin typeface="Verdana" panose="020B0604030504040204" charset="0"/>
                <a:ea typeface="Cambria" panose="02040503050406030204" pitchFamily="18" charset="0"/>
                <a:cs typeface="Verdana" panose="020B0604030504040204" charset="0"/>
              </a:rPr>
              <a:t>Štekerová</a:t>
            </a:r>
            <a:r>
              <a:rPr lang="en-US" altLang="en-US" sz="1500" dirty="0">
                <a:latin typeface="Verdana" panose="020B0604030504040204" charset="0"/>
                <a:ea typeface="Cambria" panose="02040503050406030204" pitchFamily="18" charset="0"/>
                <a:cs typeface="Verdana" panose="020B0604030504040204" charset="0"/>
              </a:rPr>
              <a:t>, K. (2022) ‘Chatbots in Museums: Is Visitor Experience Measured?’, Vol.11, No. 1–2, pp. 14–31</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[11]. Nafis, M., et al. (2022) ‘Chatbots for Cultural Heritage: A Real Added Value’, Vol. 6, No. 1, pp. 502–506.</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[12]. Noh, S., et al. (2021) ‘Designing Reenacted Chatbots to Enhance Museum Learning’, Vol. 12, No. 1, pp. 77–98.</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[13]. </a:t>
            </a:r>
            <a:r>
              <a:rPr lang="en-US" altLang="en-US" sz="1500" dirty="0" err="1">
                <a:latin typeface="Verdana" panose="020B0604030504040204" charset="0"/>
                <a:ea typeface="Cambria" panose="02040503050406030204" pitchFamily="18" charset="0"/>
                <a:cs typeface="Verdana" panose="020B0604030504040204" charset="0"/>
              </a:rPr>
              <a:t>Duguleană</a:t>
            </a:r>
            <a:r>
              <a:rPr lang="en-US" altLang="en-US" sz="1500" dirty="0">
                <a:latin typeface="Verdana" panose="020B0604030504040204" charset="0"/>
                <a:ea typeface="Cambria" panose="02040503050406030204" pitchFamily="18" charset="0"/>
                <a:cs typeface="Verdana" panose="020B0604030504040204" charset="0"/>
              </a:rPr>
              <a:t>, M. &amp; </a:t>
            </a:r>
            <a:r>
              <a:rPr lang="en-US" altLang="en-US" sz="1500" dirty="0" err="1">
                <a:latin typeface="Verdana" panose="020B0604030504040204" charset="0"/>
                <a:ea typeface="Cambria" panose="02040503050406030204" pitchFamily="18" charset="0"/>
                <a:cs typeface="Verdana" panose="020B0604030504040204" charset="0"/>
              </a:rPr>
              <a:t>Briciu</a:t>
            </a:r>
            <a:r>
              <a:rPr lang="en-US" altLang="en-US" sz="1500" dirty="0">
                <a:latin typeface="Verdana" panose="020B0604030504040204" charset="0"/>
                <a:ea typeface="Cambria" panose="02040503050406030204" pitchFamily="18" charset="0"/>
                <a:cs typeface="Verdana" panose="020B0604030504040204" charset="0"/>
              </a:rPr>
              <a:t>, A. (2021) ‘A Virtual Assistant for Natural Interactions in </a:t>
            </a:r>
            <a:r>
              <a:rPr lang="en-US" altLang="en-US" sz="1500" dirty="0" err="1">
                <a:latin typeface="Verdana" panose="020B0604030504040204" charset="0"/>
                <a:ea typeface="Cambria" panose="02040503050406030204" pitchFamily="18" charset="0"/>
                <a:cs typeface="Verdana" panose="020B0604030504040204" charset="0"/>
              </a:rPr>
              <a:t>Museums’Vol</a:t>
            </a:r>
            <a:r>
              <a:rPr lang="en-US" altLang="en-US" sz="1500" dirty="0">
                <a:latin typeface="Verdana" panose="020B0604030504040204" charset="0"/>
                <a:ea typeface="Cambria" panose="02040503050406030204" pitchFamily="18" charset="0"/>
                <a:cs typeface="Verdana" panose="020B0604030504040204" charset="0"/>
              </a:rPr>
              <a:t>. 4, No. 2, pp. 55–76.</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[14]. Authors (2019/2020) ‘Towards Implementing an AI Chatbot Platform for Museums (</a:t>
            </a:r>
            <a:r>
              <a:rPr lang="en-US" altLang="en-US" sz="1500" dirty="0" err="1">
                <a:latin typeface="Verdana" panose="020B0604030504040204" charset="0"/>
                <a:ea typeface="Cambria" panose="02040503050406030204" pitchFamily="18" charset="0"/>
                <a:cs typeface="Verdana" panose="020B0604030504040204" charset="0"/>
              </a:rPr>
              <a:t>MuBot</a:t>
            </a:r>
            <a:r>
              <a:rPr lang="en-US" altLang="en-US" sz="1500" dirty="0">
                <a:latin typeface="Verdana" panose="020B0604030504040204" charset="0"/>
                <a:ea typeface="Cambria" panose="02040503050406030204" pitchFamily="18" charset="0"/>
                <a:cs typeface="Verdana" panose="020B0604030504040204" charset="0"/>
              </a:rPr>
              <a:t>)’ Vol. 9, No. 3, pp. 89–112. </a:t>
            </a:r>
          </a:p>
          <a:p>
            <a:pPr marL="152400" indent="0" algn="just">
              <a:spcBef>
                <a:spcPts val="0"/>
              </a:spcBef>
              <a:buNone/>
            </a:pPr>
            <a:endParaRPr lang="en-US" altLang="en-US" sz="1500" dirty="0">
              <a:latin typeface="Verdana" panose="020B0604030504040204" charset="0"/>
              <a:ea typeface="Cambria" panose="02040503050406030204" pitchFamily="18" charset="0"/>
              <a:cs typeface="Verdana" panose="020B0604030504040204" charset="0"/>
            </a:endParaRPr>
          </a:p>
          <a:p>
            <a:pPr marL="152400" indent="0" algn="just">
              <a:spcBef>
                <a:spcPts val="0"/>
              </a:spcBef>
              <a:buNone/>
            </a:pPr>
            <a:r>
              <a:rPr lang="en-US" altLang="en-US" sz="1500" dirty="0">
                <a:latin typeface="Verdana" panose="020B0604030504040204" charset="0"/>
                <a:ea typeface="Cambria" panose="02040503050406030204" pitchFamily="18" charset="0"/>
                <a:cs typeface="Verdana" panose="020B0604030504040204" charset="0"/>
              </a:rPr>
              <a:t>[15]. A. Max, et al. (2005) ‘A Conversational Agent as Museum Guide — Design and Evaluation’, Vol. 19, No. 3, pp. 201–220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TotalTime>
  <Words>3398</Words>
  <Application>Microsoft Office PowerPoint</Application>
  <PresentationFormat>Widescreen</PresentationFormat>
  <Paragraphs>249</Paragraphs>
  <Slides>25</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Cambria</vt:lpstr>
      <vt:lpstr>Times New Roman</vt:lpstr>
      <vt:lpstr>Verdana</vt:lpstr>
      <vt:lpstr>Bioinformatics</vt:lpstr>
      <vt:lpstr>PSCS-481 Online Chatbot Based Ticketing System</vt:lpstr>
      <vt:lpstr>CONTENT</vt:lpstr>
      <vt:lpstr>ABSTRACT:</vt:lpstr>
      <vt:lpstr>OBJECTIVES: </vt:lpstr>
      <vt:lpstr>OBJECTIVES: </vt:lpstr>
      <vt:lpstr>PROPOSED METHODOLOGY &amp; FEASIBILITY STUDY:</vt:lpstr>
      <vt:lpstr>PROPOSED METHODOLOGY &amp; FEASIBILITY STUDY:</vt:lpstr>
      <vt:lpstr>PROPOSED METHODOLOGY &amp; FEASIBILITY STUDY:</vt:lpstr>
      <vt:lpstr>ARCHITECTURE DIAGRAM: </vt:lpstr>
      <vt:lpstr>MODULES:</vt:lpstr>
      <vt:lpstr>MODULES:</vt:lpstr>
      <vt:lpstr>MODULES:</vt:lpstr>
      <vt:lpstr>MODULES:</vt:lpstr>
      <vt:lpstr>MODULES:</vt:lpstr>
      <vt:lpstr>Git-Hub Link</vt:lpstr>
      <vt:lpstr>Screenshots</vt:lpstr>
      <vt:lpstr>Screenshots</vt:lpstr>
      <vt:lpstr>Screenshots</vt:lpstr>
      <vt:lpstr>Screenshots</vt:lpstr>
      <vt:lpstr>Screenshots</vt:lpstr>
      <vt:lpstr>Screenshots</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Mohamed Aslam Pasha</cp:lastModifiedBy>
  <cp:revision>164</cp:revision>
  <dcterms:created xsi:type="dcterms:W3CDTF">2025-08-10T08:01:00Z</dcterms:created>
  <dcterms:modified xsi:type="dcterms:W3CDTF">2025-12-01T13:42:27Z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5B8C8ECA143E48349E705AAB679A8D76_13</vt:lpwstr>
  </property>
  <property fmtid="{D5CDD505-2E9C-101B-9397-08002B2CF9AE}" pid="3" name="KSOProductBuildVer">
    <vt:lpwstr>1033-12.2.0.22549</vt:lpwstr>
  </property>
</Properties>
</file>